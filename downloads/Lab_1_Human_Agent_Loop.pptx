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3c4724562054bb9" /><Relationship Type="http://schemas.openxmlformats.org/officeDocument/2006/relationships/extended-properties" Target="/docProps/app.xml" Id="Rce5f5b964ec542c7" /><Relationship Type="http://schemas.openxmlformats.org/officeDocument/2006/relationships/officeDocument" Target="/ppt/presentation.xml" Id="R7e108195e8af443e" /></Relationships>
</file>

<file path=ppt/presentation.xml><?xml version="1.0" encoding="utf-8"?>
<p:presentation xmlns:p="http://schemas.openxmlformats.org/presentationml/2006/main">
  <p:sldMasterIdLst>
    <p:sldMasterId xmlns:r="http://schemas.openxmlformats.org/officeDocument/2006/relationships" id="2147483648" r:id="Rd86964104b634e80"/>
  </p:sldMasterIdLst>
  <p:notesMasterIdLst>
    <p:notesMasterId xmlns:r="http://schemas.openxmlformats.org/officeDocument/2006/relationships" r:id="R48a81675eea546f8"/>
  </p:notesMasterIdLst>
  <p:sldIdLst>
    <p:sldId xmlns:r="http://schemas.openxmlformats.org/officeDocument/2006/relationships" id="256" r:id="R27e1baac09bd40de"/>
    <p:sldId xmlns:r="http://schemas.openxmlformats.org/officeDocument/2006/relationships" id="257" r:id="R8d6013b3ca184f7e"/>
    <p:sldId xmlns:r="http://schemas.openxmlformats.org/officeDocument/2006/relationships" id="258" r:id="R8393e6e93eea4b3b"/>
    <p:sldId xmlns:r="http://schemas.openxmlformats.org/officeDocument/2006/relationships" id="259" r:id="R9a951e6ad37e4032"/>
    <p:sldId xmlns:r="http://schemas.openxmlformats.org/officeDocument/2006/relationships" id="260" r:id="Re8480068ff2345bd"/>
    <p:sldId xmlns:r="http://schemas.openxmlformats.org/officeDocument/2006/relationships" id="261" r:id="R3b377bc865f94135"/>
    <p:sldId xmlns:r="http://schemas.openxmlformats.org/officeDocument/2006/relationships" id="262" r:id="R7160162c9310423f"/>
    <p:sldId xmlns:r="http://schemas.openxmlformats.org/officeDocument/2006/relationships" id="263" r:id="R9055ad5f6e6241a4"/>
    <p:sldId xmlns:r="http://schemas.openxmlformats.org/officeDocument/2006/relationships" id="264" r:id="R08514629822f4c50"/>
    <p:sldId xmlns:r="http://schemas.openxmlformats.org/officeDocument/2006/relationships" id="265" r:id="R7128ba37ec684b41"/>
    <p:sldId xmlns:r="http://schemas.openxmlformats.org/officeDocument/2006/relationships" id="266" r:id="Rdc42f1ca5aea4072"/>
    <p:sldId xmlns:r="http://schemas.openxmlformats.org/officeDocument/2006/relationships" id="267" r:id="R42c530d930d14b24"/>
    <p:sldId xmlns:r="http://schemas.openxmlformats.org/officeDocument/2006/relationships" id="268" r:id="R4b8038675db94279"/>
    <p:sldId xmlns:r="http://schemas.openxmlformats.org/officeDocument/2006/relationships" id="269" r:id="Re8a118f0699e483e"/>
    <p:sldId xmlns:r="http://schemas.openxmlformats.org/officeDocument/2006/relationships" id="270" r:id="Red4a55f174da4a92"/>
    <p:sldId xmlns:r="http://schemas.openxmlformats.org/officeDocument/2006/relationships" id="271" r:id="R78fef6cab9ba4247"/>
    <p:sldId xmlns:r="http://schemas.openxmlformats.org/officeDocument/2006/relationships" id="272" r:id="R5d0bf1acee1e4632"/>
    <p:sldId xmlns:r="http://schemas.openxmlformats.org/officeDocument/2006/relationships" id="273" r:id="R5f98816869e843d9"/>
    <p:sldId xmlns:r="http://schemas.openxmlformats.org/officeDocument/2006/relationships" id="274" r:id="R981ebccb29144e94"/>
    <p:sldId xmlns:r="http://schemas.openxmlformats.org/officeDocument/2006/relationships" id="275" r:id="R23964ed5483943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9c959504b64c00" /><Relationship Type="http://schemas.openxmlformats.org/officeDocument/2006/relationships/slideMaster" Target="/ppt/slideMasters/slideMaster1.xml" Id="Rd86964104b634e80" /><Relationship Type="http://schemas.openxmlformats.org/officeDocument/2006/relationships/notesMaster" Target="/ppt/notesMasters/notesMaster1.xml" Id="R48a81675eea546f8" /><Relationship Type="http://schemas.openxmlformats.org/officeDocument/2006/relationships/presProps" Target="/ppt/presProps.xml" Id="Rfb082c23a85b499f" /><Relationship Type="http://schemas.openxmlformats.org/officeDocument/2006/relationships/tableStyles" Target="/ppt/tableStyles.xml" Id="Re3c315930f97447b" /><Relationship Type="http://schemas.openxmlformats.org/officeDocument/2006/relationships/slide" Target="/ppt/slides/slide1.xml" Id="R27e1baac09bd40de" /><Relationship Type="http://schemas.openxmlformats.org/officeDocument/2006/relationships/slide" Target="/ppt/slides/slide2.xml" Id="R8d6013b3ca184f7e" /><Relationship Type="http://schemas.openxmlformats.org/officeDocument/2006/relationships/slide" Target="/ppt/slides/slide3.xml" Id="R8393e6e93eea4b3b" /><Relationship Type="http://schemas.openxmlformats.org/officeDocument/2006/relationships/slide" Target="/ppt/slides/slide4.xml" Id="R9a951e6ad37e4032" /><Relationship Type="http://schemas.openxmlformats.org/officeDocument/2006/relationships/slide" Target="/ppt/slides/slide5.xml" Id="Re8480068ff2345bd" /><Relationship Type="http://schemas.openxmlformats.org/officeDocument/2006/relationships/slide" Target="/ppt/slides/slide6.xml" Id="R3b377bc865f94135" /><Relationship Type="http://schemas.openxmlformats.org/officeDocument/2006/relationships/slide" Target="/ppt/slides/slide7.xml" Id="R7160162c9310423f" /><Relationship Type="http://schemas.openxmlformats.org/officeDocument/2006/relationships/slide" Target="/ppt/slides/slide8.xml" Id="R9055ad5f6e6241a4" /><Relationship Type="http://schemas.openxmlformats.org/officeDocument/2006/relationships/slide" Target="/ppt/slides/slide9.xml" Id="R08514629822f4c50" /><Relationship Type="http://schemas.openxmlformats.org/officeDocument/2006/relationships/slide" Target="/ppt/slides/slide10.xml" Id="R7128ba37ec684b41" /><Relationship Type="http://schemas.openxmlformats.org/officeDocument/2006/relationships/slide" Target="/ppt/slides/slide11.xml" Id="Rdc42f1ca5aea4072" /><Relationship Type="http://schemas.openxmlformats.org/officeDocument/2006/relationships/slide" Target="/ppt/slides/slide12.xml" Id="R42c530d930d14b24" /><Relationship Type="http://schemas.openxmlformats.org/officeDocument/2006/relationships/slide" Target="/ppt/slides/slide13.xml" Id="R4b8038675db94279" /><Relationship Type="http://schemas.openxmlformats.org/officeDocument/2006/relationships/slide" Target="/ppt/slides/slide14.xml" Id="Re8a118f0699e483e" /><Relationship Type="http://schemas.openxmlformats.org/officeDocument/2006/relationships/slide" Target="/ppt/slides/slide15.xml" Id="Red4a55f174da4a92" /><Relationship Type="http://schemas.openxmlformats.org/officeDocument/2006/relationships/slide" Target="/ppt/slides/slide16.xml" Id="R78fef6cab9ba4247" /><Relationship Type="http://schemas.openxmlformats.org/officeDocument/2006/relationships/slide" Target="/ppt/slides/slide17.xml" Id="R5d0bf1acee1e4632" /><Relationship Type="http://schemas.openxmlformats.org/officeDocument/2006/relationships/slide" Target="/ppt/slides/slide18.xml" Id="R5f98816869e843d9" /><Relationship Type="http://schemas.openxmlformats.org/officeDocument/2006/relationships/slide" Target="/ppt/slides/slide19.xml" Id="R981ebccb29144e94" /><Relationship Type="http://schemas.openxmlformats.org/officeDocument/2006/relationships/slide" Target="/ppt/slides/slide20.xml" Id="R23964ed5483943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d4c8fd2a734e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b45ef1137148ee" /><Relationship Type="http://schemas.openxmlformats.org/officeDocument/2006/relationships/notesMaster" Target="/ppt/notesMasters/notesMaster1.xml" Id="Rd8f82743c4424d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78e44d48004e91" /><Relationship Type="http://schemas.openxmlformats.org/officeDocument/2006/relationships/notesMaster" Target="/ppt/notesMasters/notesMaster1.xml" Id="R5549bbc50aa940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b1553aaa164ab5" /><Relationship Type="http://schemas.openxmlformats.org/officeDocument/2006/relationships/notesMaster" Target="/ppt/notesMasters/notesMaster1.xml" Id="Rcbc2f5b07f9843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a31ab6eb56442b" /><Relationship Type="http://schemas.openxmlformats.org/officeDocument/2006/relationships/notesMaster" Target="/ppt/notesMasters/notesMaster1.xml" Id="R74d3c58b80bf4d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dcbd635e34595" /><Relationship Type="http://schemas.openxmlformats.org/officeDocument/2006/relationships/notesMaster" Target="/ppt/notesMasters/notesMaster1.xml" Id="Rdef886e7ea0d4d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bf6c9f8c8149a7" /><Relationship Type="http://schemas.openxmlformats.org/officeDocument/2006/relationships/notesMaster" Target="/ppt/notesMasters/notesMaster1.xml" Id="R0c778d1e8b3d43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487d05b6fc44b6" /><Relationship Type="http://schemas.openxmlformats.org/officeDocument/2006/relationships/notesMaster" Target="/ppt/notesMasters/notesMaster1.xml" Id="R89ac1250f55c45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347253f80f4940" /><Relationship Type="http://schemas.openxmlformats.org/officeDocument/2006/relationships/notesMaster" Target="/ppt/notesMasters/notesMaster1.xml" Id="R748da8b98682419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aea2249d3545b1" /><Relationship Type="http://schemas.openxmlformats.org/officeDocument/2006/relationships/notesMaster" Target="/ppt/notesMasters/notesMaster1.xml" Id="R2d3e7a7b059240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e01d10d6794006" /><Relationship Type="http://schemas.openxmlformats.org/officeDocument/2006/relationships/notesMaster" Target="/ppt/notesMasters/notesMaster1.xml" Id="Ra144d91bd6c944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df4f40a07684a3e" /><Relationship Type="http://schemas.openxmlformats.org/officeDocument/2006/relationships/notesMaster" Target="/ppt/notesMasters/notesMaster1.xml" Id="Rc8ff714755c149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25887decef4093" /><Relationship Type="http://schemas.openxmlformats.org/officeDocument/2006/relationships/notesMaster" Target="/ppt/notesMasters/notesMaster1.xml" Id="R03a8d6d7089144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70ac830cc84503" /><Relationship Type="http://schemas.openxmlformats.org/officeDocument/2006/relationships/notesMaster" Target="/ppt/notesMasters/notesMaster1.xml" Id="Rd4a22ed0adcc47a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f1de30e3524901" /><Relationship Type="http://schemas.openxmlformats.org/officeDocument/2006/relationships/notesMaster" Target="/ppt/notesMasters/notesMaster1.xml" Id="Rb71d1f9a77a64ab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b9e0331db614114" /><Relationship Type="http://schemas.openxmlformats.org/officeDocument/2006/relationships/notesMaster" Target="/ppt/notesMasters/notesMaster1.xml" Id="R18ecb49ae6bd420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57b89f817544a3" /><Relationship Type="http://schemas.openxmlformats.org/officeDocument/2006/relationships/notesMaster" Target="/ppt/notesMasters/notesMaster1.xml" Id="Re5fc0c534b0a45c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c75f7934f641b9" /><Relationship Type="http://schemas.openxmlformats.org/officeDocument/2006/relationships/notesMaster" Target="/ppt/notesMasters/notesMaster1.xml" Id="R0f8bb5e5072749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f3e73ce57ec484f" /><Relationship Type="http://schemas.openxmlformats.org/officeDocument/2006/relationships/notesMaster" Target="/ppt/notesMasters/notesMaster1.xml" Id="R50b634e9de7b4d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5d51d6935c4faf" /><Relationship Type="http://schemas.openxmlformats.org/officeDocument/2006/relationships/notesMaster" Target="/ppt/notesMasters/notesMaster1.xml" Id="R75d2bb215c5d42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07ab8203734753" /><Relationship Type="http://schemas.openxmlformats.org/officeDocument/2006/relationships/notesMaster" Target="/ppt/notesMasters/notesMaster1.xml" Id="R68c1be96d00d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I’m Jordan Ehrman from Riverbot Agentics. I’ll be around as your lab person this semester. You’ve just had a session on prompting, so today we will use a bot and watch what happens when the facts change. Our very ambitious mission: get lunch to a student club. Open PantherAI while we get settled. Timing: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session covered how to ask. Today we look at what happens after an answer: what information arrives, how the plan changes, and when a person needs to step in. This is a chatbot exercise that makes the human part of an agent loop visible. Timing: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get everybody onto PantherAI. Small naming trap: PantherBot answers campus-service questions. PantherAI is the model menu we want. Go to the login page, click Chapman SSO Login, and use your school account. Once inside, choose an available model and start a fresh chat. The exact models can change, so write down the full name you actually select. If you’re visiting without Chapman access, work with a partner or use a free chat account you already have. If login takes more than two minutes, pair up and keep moving. We have an offline version too. I verified the public login screen, not an authenticated student menu. Timing: allow 2–3 minutes.</a:t>
            </a:r>
          </a:p>
          <a:p xmlns:a="http://schemas.openxmlformats.org/drawingml/2006/main">
            <a:r>
              <a:t/>
            </a:r>
          </a:p>
          <a:p xmlns:a="http://schemas.openxmlformats.org/drawingml/2006/main">
            <a:r>
              <a:t>Sources</a:t>
            </a:r>
          </a:p>
          <a:p xmlns:a="http://schemas.openxmlformats.org/drawingml/2006/main">
            <a:r>
              <a:t>https://www.chapman.edu/campus-services/information-systems/research-technology-support/pantherai/index.aspx</a:t>
            </a:r>
          </a:p>
          <a:p xmlns:a="http://schemas.openxmlformats.org/drawingml/2006/main">
            <a:r>
              <a:t>https://pantherai.chapman.edu/login</a:t>
            </a:r>
          </a:p>
          <a:p xmlns:a="http://schemas.openxmlformats.org/drawingml/2006/main">
            <a:r>
              <a:t>https://libguides.chapman.edu/AI/approved_tools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Once everyone is signed in, pause here. Choosing a model can feel like choosing between unfamiliar brands. The next three slides give just enough vocabulary to understand the menu and two comparison charts. No need to shop for a perfect model today. Timing: 15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applied version in about a minute. PantherAI is the workspace. The model is the engine you select inside it. Tools are separate capabilities: searching, using a calculator, reading a file, sending something. A model name alone does not tell you which tools this app gives it. Chapman says live web access is not available by default, so don’t assume a confident answer means it checked the internet. Closed models keep their weights with the provider. Open-weight models let someone download and run the weights under a license. People often say open source, but the exact license and what gets released matter. LibreChat being open source does not make every model inside it open source. For today, choose an available model and get started. Timing: 60 seconds.</a:t>
            </a:r>
          </a:p>
          <a:p xmlns:a="http://schemas.openxmlformats.org/drawingml/2006/main">
            <a:r>
              <a:t/>
            </a:r>
          </a:p>
          <a:p xmlns:a="http://schemas.openxmlformats.org/drawingml/2006/main">
            <a:r>
              <a:t>Sources</a:t>
            </a:r>
          </a:p>
          <a:p xmlns:a="http://schemas.openxmlformats.org/drawingml/2006/main">
            <a:r>
              <a:t>https://www.chapman.edu/campus-services/information-systems/research-technology-support/pantherai/index.aspx</a:t>
            </a:r>
          </a:p>
          <a:p xmlns:a="http://schemas.openxmlformats.org/drawingml/2006/main">
            <a:r>
              <a:t>https://www.librechat.ai/</a:t>
            </a:r>
          </a:p>
          <a:p xmlns:a="http://schemas.openxmlformats.org/drawingml/2006/main">
            <a:r>
              <a:t>https://opensource.org/ai/open-source-ai-definition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dated snapshot, not a permanent podium. The bar shows LLM Stats’ composite benchmark score. The label shows its listed blended API price per million tokens. That is what an application operator might compare, not a bill for students. These are selected models from one cost-efficiency chart, not the PantherAI menu. Benchmarks help you shortlist. Your actual task tells you what works. The score is not a percent-correct measure. Pricing depends on provider and input/output mix. Timing: 30 seconds.</a:t>
            </a:r>
          </a:p>
          <a:p xmlns:a="http://schemas.openxmlformats.org/drawingml/2006/main">
            <a:r>
              <a:t/>
            </a:r>
          </a:p>
          <a:p xmlns:a="http://schemas.openxmlformats.org/drawingml/2006/main">
            <a:r>
              <a:t>Sources</a:t>
            </a:r>
          </a:p>
          <a:p xmlns:a="http://schemas.openxmlformats.org/drawingml/2006/main">
            <a:r>
              <a:t>https://llm-stats.com/models/qwen3-32b</a:t>
            </a:r>
          </a:p>
          <a:p xmlns:a="http://schemas.openxmlformats.org/drawingml/2006/main">
            <a:r>
              <a:t>https://llm-stats.com/methodology/llm-stats-score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Parameters are learned numerical weights. A B here means a billion parameters, not a billion facts. These three open-weight examples disclose their sizes. Mixture-of-experts models use a subset at each step: gpt-oss-120b lists 5.1B active out of 117B total, and DeepSeek-R1 lists 37B active out of 671B. This is why “bigger” is not a complete buying decision. Closed-model parameter counts are often undisclosed, so we leave them unknown. These examples illustrate architecture and are not the newest releases or a claim about what is available in PantherAI. Timing: 30 seconds.</a:t>
            </a:r>
          </a:p>
          <a:p xmlns:a="http://schemas.openxmlformats.org/drawingml/2006/main">
            <a:r>
              <a:t/>
            </a:r>
          </a:p>
          <a:p xmlns:a="http://schemas.openxmlformats.org/drawingml/2006/main">
            <a:r>
              <a:t>Sources</a:t>
            </a:r>
          </a:p>
          <a:p xmlns:a="http://schemas.openxmlformats.org/drawingml/2006/main">
            <a:r>
              <a:t>https://huggingface.co/Qwen/Qwen3-32B</a:t>
            </a:r>
          </a:p>
          <a:p xmlns:a="http://schemas.openxmlformats.org/drawingml/2006/main">
            <a:r>
              <a:t>https://huggingface.co/openai/gpt-oss-120b</a:t>
            </a:r>
          </a:p>
          <a:p xmlns:a="http://schemas.openxmlformats.org/drawingml/2006/main">
            <a:r>
              <a:t>https://huggingface.co/deepseek-ai/DeepSeek-R1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seen differences in size, price and benchmark ability. Now look at behavior in a conversation. These are historical anecdotes, so we cannot use them to rank today’s models. They make the gap between an instruction and a useful outcome easy to see. The guest already covered prompting; our question is what the surrounding process should notice. Timing: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a few instructions that technically survived contact with a bot. The user asks for a lamp name and gets Lumiflex. Then: “Give me 19.” The bot delivers nineteen. Singular. In numeral form. Let the class spot the missing noun before explaining. The context makes the likely intention understandable, and a more helpful bot could clarify. But the literal reading is right there. These are illustrative Reddit posts, not controlled model tests. We’re laughing at the gap, not the person. Timing: 45 seconds.</a:t>
            </a:r>
          </a:p>
          <a:p xmlns:a="http://schemas.openxmlformats.org/drawingml/2006/main">
            <a:r>
              <a:t/>
            </a:r>
          </a:p>
          <a:p xmlns:a="http://schemas.openxmlformats.org/drawingml/2006/main">
            <a:r>
              <a:t>Sources</a:t>
            </a:r>
          </a:p>
          <a:p xmlns:a="http://schemas.openxmlformats.org/drawingml/2006/main">
            <a:r>
              <a:t>https://www.reddit.com/r/ChatGPT/comments/1hgx336/19/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prioritize does, spectacularly, have the same meaning as prioritize. This is the technically-correct gremlin. Ask the room what unstated condition they automatically added. “A different word.” We should still expect a useful assistant to infer that. This example does not prove that synonyms never share meanings, despite some Reddit comments saying so. It shows how literal compliance and useful help can part ways. Timing: 45 seconds.</a:t>
            </a:r>
          </a:p>
          <a:p xmlns:a="http://schemas.openxmlformats.org/drawingml/2006/main">
            <a:r>
              <a:t/>
            </a:r>
          </a:p>
          <a:p xmlns:a="http://schemas.openxmlformats.org/drawingml/2006/main">
            <a:r>
              <a:t>Sources</a:t>
            </a:r>
          </a:p>
          <a:p xmlns:a="http://schemas.openxmlformats.org/drawingml/2006/main">
            <a:r>
              <a:t>https://www.reddit.com/r/ChatGPT/comments/1anff5w/incredible/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one was posted in r/ChatGPT, but the screenshot is Meta AI. Name that clearly. The user wanted a little more street around Santa and asked to zoom out. The bot went cosmic. The title itself admits “to be fair, Meta did listen.” It is a joke about missing scale, not evidence that an unrelated space image is a faithful camera zoom. If I tell an employee to reduce spending, they still need to know by how much and what must remain intact. Timing: 45 seconds.</a:t>
            </a:r>
          </a:p>
          <a:p xmlns:a="http://schemas.openxmlformats.org/drawingml/2006/main">
            <a:r>
              <a:t/>
            </a:r>
          </a:p>
          <a:p xmlns:a="http://schemas.openxmlformats.org/drawingml/2006/main">
            <a:r>
              <a:t>Sources</a:t>
            </a:r>
          </a:p>
          <a:p xmlns:a="http://schemas.openxmlformats.org/drawingml/2006/main">
            <a:r>
              <a:t>https://www.reddit.com/r/ChatGPT/comments/1hofvi0/when_i_said_zoom_out_please_i_was_wanting_to_see/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a quieter post, only about thirteen votes when retrieved. The user establishes a fortune-cookie role, gets several fortunes, then asks for tarot. The bot refuses because it is a fortune cookie. That’s an overly rigid role interpretation, and the claim that it is “not programmed” for tarot is not a reliable capability statement. The useful observation: earlier instructions can still influence the next turn. This post is titled malicious compliance and is playful, not a verified complaint about a defect. We have all been the person who assumes the new task erased the old context. Timing: 45 seconds.</a:t>
            </a:r>
          </a:p>
          <a:p xmlns:a="http://schemas.openxmlformats.org/drawingml/2006/main">
            <a:r>
              <a:t/>
            </a:r>
          </a:p>
          <a:p xmlns:a="http://schemas.openxmlformats.org/drawingml/2006/main">
            <a:r>
              <a:t>Sources</a:t>
            </a:r>
          </a:p>
          <a:p xmlns:a="http://schemas.openxmlformats.org/drawingml/2006/main">
            <a:r>
              <a:t>https://www.reddit.com/r/ChatGPT/comments/zgivfv/be_a_fortune_cookie_malicious_compliance/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jokes show gaps between a request and a useful response. Now let’s watch the same conversation meet changing facts. The goal stays simple: one meal and one drink for everyone, within budget, ready for noon. Timing: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instructor cookbook beside a fresh chatbot conversation. Run its four sample turns in about four minutes, pausing once after the pickup uncertainty. Use the prepared demo if login or the model stalls. Do not demand an exact response: a mistake is a useful discussion point. This exercise simulates parts of an agent loop with a person supplying facts; the chatbot is not independently checking stock, contacting anyone or ordering lunch. Timing: 4 minutes including the demo.</a:t>
            </a:r>
          </a:p>
          <a:p xmlns:a="http://schemas.openxmlformats.org/drawingml/2006/main">
            <a:r>
              <a:t/>
            </a:r>
          </a:p>
          <a:p xmlns:a="http://schemas.openxmlformats.org/drawingml/2006/main">
            <a:r>
              <a:t>Sources</a:t>
            </a:r>
          </a:p>
          <a:p xmlns:a="http://schemas.openxmlformats.org/drawingml/2006/main">
            <a:r>
              <a:t>Original Beginner_Agentics_15_Week_Demo_Lab_Guide.docx, Week 1 (Aug 10, 2026)</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one new fact and the decision it changed. In our sample, 8 chicken, 22 wraps and 30 drinks cost $200 with delivery, then $188 with pickup. Keeping that menu is valid; 18 chicken and 12 wraps for $198 is also valid after pickup is confirmed. Do not imply there is one required menu. Timing: 30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names for what you just did, not labels students must paste into every prompt. The original loop also names tools and observations: a real system could use an inventory lookup, calculator or messaging tool, then observe the result. Today the human supplies the facts and checks the arithmetic. At Part 3, waiting is appropriate. At Part 4, the planning task can end. A chatbot conversation alone does not show that a real-world action happened. Timing: 45 seconds.</a:t>
            </a:r>
          </a:p>
          <a:p xmlns:a="http://schemas.openxmlformats.org/drawingml/2006/main">
            <a:r>
              <a:t/>
            </a:r>
          </a:p>
          <a:p xmlns:a="http://schemas.openxmlformats.org/drawingml/2006/main">
            <a:r>
              <a:t>Sources</a:t>
            </a:r>
          </a:p>
          <a:p xmlns:a="http://schemas.openxmlformats.org/drawingml/2006/main">
            <a:r>
              <a:t>Original Beginner_Agentics_15_Week_Demo_Lab_Guide.docx, Week 1</a:t>
            </a:r>
          </a:p>
          <a:p xmlns:a="http://schemas.openxmlformats.org/drawingml/2006/main">
            <a:r>
              <a:t>https://www.anthropic.com/engineering/building-effective-agents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is no prescribed starter and no special command language. Students choose what to tell the bot, what to ask, and which answer to challenge. In a pair, one can type while the other checks; switch halfway. Show the student lab page, not the instructor answer key. Timing: 20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part when you reach it. Spend about five minutes per part. Write a few sentences about the plan and what changed. Multiple meal mixes can work. The point is to keep the constraints straight and know when you have enough evidence to finish. Students can work individually or in pairs using any available chatbot. Timing: 30 seconds.</a:t>
            </a:r>
          </a:p>
          <a:p xmlns:a="http://schemas.openxmlformats.org/drawingml/2006/main">
            <a:r>
              <a:t/>
            </a:r>
          </a:p>
          <a:p xmlns:a="http://schemas.openxmlformats.org/drawingml/2006/main">
            <a:r>
              <a:t>Sources</a:t>
            </a:r>
          </a:p>
          <a:p xmlns:a="http://schemas.openxmlformats.org/drawingml/2006/main">
            <a:r>
              <a:t>Original Beginner_Agentics_15_Week_Demo_Lab_Guide.docx, Week 1</a:t>
            </a:r>
          </a:p>
          <a:p xmlns:a="http://schemas.openxmlformats.org/drawingml/2006/main">
            <a:r>
              <a:t>Original AI_Agents_Course_Syllabus (1).pdf, Week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few sentences per part are enough. Students can type into the lab page or use the printable handout. Download browser work before leaving; submit wherever your instructor specifies. The page does not collect submissions. A surprising failure counts if the student explains the correction. No loop diagram or full transcript is required. Timing: 30 seconds.</a:t>
            </a:r>
          </a:p>
          <a:p xmlns:a="http://schemas.openxmlformats.org/drawingml/2006/main">
            <a:r>
              <a:t/>
            </a:r>
          </a:p>
          <a:p xmlns:a="http://schemas.openxmlformats.org/drawingml/2006/main">
            <a:r>
              <a:t>Sources</a:t>
            </a:r>
          </a:p>
          <a:p xmlns:a="http://schemas.openxmlformats.org/drawingml/2006/main">
            <a:r>
              <a:t>Original Beginner_Agentics_15_Week_Demo_Lab_Guide.docx, Week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the WordArt up for a beat. Click “A quick thing before you go” to reveal contact text.] I’ll be giving these labs for at least this semester, so if you have questions about the labs or your general learning, please ask. That’s what I’m here for. If you want deeper help with a school project or something you’re hoping to monetize, Riverbot Agentics also does paid consulting. For graded work, that means coaching and technical support within your course rules, with the work still yours. Regular lab help is free. Okay, go work. I’ll come around and talk with each of you. Timing: 45 seconds.</a:t>
            </a:r>
          </a:p>
          <a:p xmlns:a="http://schemas.openxmlformats.org/drawingml/2006/main">
            <a:r>
              <a:t/>
            </a:r>
          </a:p>
          <a:p xmlns:a="http://schemas.openxmlformats.org/drawingml/2006/main">
            <a:r>
              <a:t>Sources</a:t>
            </a:r>
          </a:p>
          <a:p xmlns:a="http://schemas.openxmlformats.org/drawingml/2006/main">
            <a:r>
              <a:t>https://github.com/ehrmanj-chap/riverbot-agentics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c4452a281441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b4ca7aa326491c" /><Relationship Type="http://schemas.openxmlformats.org/officeDocument/2006/relationships/slideLayout" Target="/ppt/slideLayouts/slideLayout1.xml" Id="R057297bd3a12481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7297bd3a12481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6952b219184925" /><Relationship Type="http://schemas.openxmlformats.org/officeDocument/2006/relationships/image" Target="/ppt/media/image.png" Id="R378e4b5bebbc4973" /><Relationship Type="http://schemas.openxmlformats.org/officeDocument/2006/relationships/notesSlide" Target="/ppt/notesSlides/notesSlide1.xml" Id="R0dd431a3f1f042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2700df7c8d451f" /><Relationship Type="http://schemas.openxmlformats.org/officeDocument/2006/relationships/notesSlide" Target="/ppt/notesSlides/notesSlide2.xml" Id="R5793eb30e71647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40a5015d704bd4" /><Relationship Type="http://schemas.openxmlformats.org/officeDocument/2006/relationships/notesSlide" Target="/ppt/notesSlides/notesSlide3.xml" Id="Rae8b1e21deb044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3dc6d531da471a" /><Relationship Type="http://schemas.openxmlformats.org/officeDocument/2006/relationships/notesSlide" Target="/ppt/notesSlides/notesSlide4.xml" Id="R35b089375e1148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ad7ec6e5184e97" /><Relationship Type="http://schemas.openxmlformats.org/officeDocument/2006/relationships/notesSlide" Target="/ppt/notesSlides/notesSlide5.xml" Id="R267c1ef932c548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67719c88c94811" /><Relationship Type="http://schemas.openxmlformats.org/officeDocument/2006/relationships/chart" Target="/ppt/slides/charts/chart1.xml" Id="R15eb97cfb6644b39" /><Relationship Type="http://schemas.openxmlformats.org/officeDocument/2006/relationships/notesSlide" Target="/ppt/notesSlides/notesSlide6.xml" Id="R85a9d40554794a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12e90f59ee4460" /><Relationship Type="http://schemas.openxmlformats.org/officeDocument/2006/relationships/chart" Target="/ppt/slides/charts/chart2.xml" Id="R400b1d0b43a64415" /><Relationship Type="http://schemas.openxmlformats.org/officeDocument/2006/relationships/notesSlide" Target="/ppt/notesSlides/notesSlide7.xml" Id="R77ac27422e064a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68cc8b367b468e" /><Relationship Type="http://schemas.openxmlformats.org/officeDocument/2006/relationships/notesSlide" Target="/ppt/notesSlides/notesSlide8.xml" Id="Re6fd9d1104e746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63128268e04432" /><Relationship Type="http://schemas.openxmlformats.org/officeDocument/2006/relationships/image" Target="/ppt/media/image.jpeg" Id="R1672ea9aa8244639" /><Relationship Type="http://schemas.openxmlformats.org/officeDocument/2006/relationships/notesSlide" Target="/ppt/notesSlides/notesSlide9.xml" Id="R1f5b6d0fdf35400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73e140dd6749af" /><Relationship Type="http://schemas.openxmlformats.org/officeDocument/2006/relationships/image" Target="/ppt/media/image2.jpeg" Id="Rd9a070b671f14d2d" /><Relationship Type="http://schemas.openxmlformats.org/officeDocument/2006/relationships/notesSlide" Target="/ppt/notesSlides/notesSlide10.xml" Id="R9db64156109948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090b5a3317448d" /><Relationship Type="http://schemas.openxmlformats.org/officeDocument/2006/relationships/image" Target="/ppt/media/image3.jpeg" Id="Rd9c8575728804381" /><Relationship Type="http://schemas.openxmlformats.org/officeDocument/2006/relationships/notesSlide" Target="/ppt/notesSlides/notesSlide11.xml" Id="Re560e957977a42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94525ce3c1a4b81" /><Relationship Type="http://schemas.openxmlformats.org/officeDocument/2006/relationships/image" Target="/ppt/media/image2.png" Id="R1f9570c8968f453e" /><Relationship Type="http://schemas.openxmlformats.org/officeDocument/2006/relationships/notesSlide" Target="/ppt/notesSlides/notesSlide12.xml" Id="Rd04c8126b29c4c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df797b1c914ff9" /><Relationship Type="http://schemas.openxmlformats.org/officeDocument/2006/relationships/notesSlide" Target="/ppt/notesSlides/notesSlide13.xml" Id="Ra6ce7686487a4e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73a9675d43947a8" /><Relationship Type="http://schemas.openxmlformats.org/officeDocument/2006/relationships/notesSlide" Target="/ppt/notesSlides/notesSlide14.xml" Id="R0f0c7443b767403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3f1d42b7b4c486c" /><Relationship Type="http://schemas.openxmlformats.org/officeDocument/2006/relationships/notesSlide" Target="/ppt/notesSlides/notesSlide15.xml" Id="R6670c2f0dac04a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e6e18be9d549f8" /><Relationship Type="http://schemas.openxmlformats.org/officeDocument/2006/relationships/notesSlide" Target="/ppt/notesSlides/notesSlide16.xml" Id="R06b155bb7c95496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7803c662ffe4274" /><Relationship Type="http://schemas.openxmlformats.org/officeDocument/2006/relationships/notesSlide" Target="/ppt/notesSlides/notesSlide17.xml" Id="R536907b5855146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8c24051fe6c4625" /><Relationship Type="http://schemas.openxmlformats.org/officeDocument/2006/relationships/notesSlide" Target="/ppt/notesSlides/notesSlide18.xml" Id="R62be749dcdc044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1c25ca1217f4ee6" /><Relationship Type="http://schemas.openxmlformats.org/officeDocument/2006/relationships/notesSlide" Target="/ppt/notesSlides/notesSlide19.xml" Id="R86d0bae14efe4a9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fce7aa4cc0e4e86" /><Relationship Type="http://schemas.openxmlformats.org/officeDocument/2006/relationships/image" Target="/ppt/media/image3.png" Id="Rae8d05bd2a1542d2" /><Relationship Type="http://schemas.openxmlformats.org/officeDocument/2006/relationships/notesSlide" Target="/ppt/notesSlides/notesSlide20.xml" Id="Recdc9686d063417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Composite benchmark score</c:v>
          </c:tx>
          <c:spPr>
            <a:solidFill xmlns:a="http://schemas.openxmlformats.org/drawingml/2006/main">
              <a:srgbClr val="7A0019"/>
            </a:solidFill>
          </c:spPr>
          <c:cat>
            <c:strRef>
              <c:f>'Chart Data'!$A$2:$A$7</c:f>
              <c:strCache>
                <c:ptCount val="6"/>
                <c:pt idx="0">
                  <c:v>Gemma 4 E4B ($0.024)</c:v>
                </c:pt>
                <c:pt idx="1">
                  <c:v>GPT OSS 120B ($0.043)</c:v>
                </c:pt>
                <c:pt idx="2">
                  <c:v>DeepSeek V4 Flash 0731 ($0.066)</c:v>
                </c:pt>
                <c:pt idx="3">
                  <c:v>Qwen3 32B ($0.090)</c:v>
                </c:pt>
                <c:pt idx="4">
                  <c:v>DeepSeek V4.1 Flash ($0.240)</c:v>
                </c:pt>
                <c:pt idx="5">
                  <c:v>Claude Opus 5.5 ($4.760)</c:v>
                </c:pt>
              </c:strCache>
            </c:strRef>
          </c:cat>
          <c:val>
            <c:numRef>
              <c:f>'Chart Data'!$B$2:$B$7</c:f>
              <c:numCache>
                <c:formatCode>General</c:formatCode>
                <c:ptCount val="6"/>
                <c:pt idx="0">
                  <c:v>13.8</c:v>
                </c:pt>
                <c:pt idx="1">
                  <c:v>28.7</c:v>
                </c:pt>
                <c:pt idx="2">
                  <c:v>44.1</c:v>
                </c:pt>
                <c:pt idx="3">
                  <c:v>18.4</c:v>
                </c:pt>
                <c:pt idx="4">
                  <c:v>51.6</c:v>
                </c:pt>
                <c:pt idx="5">
                  <c:v>59.8</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222222"/>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500">
                <a:solidFill>
                  <a:srgbClr val="5D5D5D"/>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425">
                <a:solidFill>
                  <a:srgbClr val="5D5D5D"/>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Total parameters, billions</c:v>
          </c:tx>
          <c:spPr>
            <a:solidFill xmlns:a="http://schemas.openxmlformats.org/drawingml/2006/main">
              <a:srgbClr val="7A0019"/>
            </a:solidFill>
          </c:spPr>
          <c:cat>
            <c:strRef>
              <c:f>'Chart Data'!$A$2:$A$4</c:f>
              <c:strCache>
                <c:ptCount val="3"/>
                <c:pt idx="0">
                  <c:v>Qwen3-32B</c:v>
                </c:pt>
                <c:pt idx="1">
                  <c:v>gpt-oss-120b</c:v>
                </c:pt>
                <c:pt idx="2">
                  <c:v>DeepSeek-R1</c:v>
                </c:pt>
              </c:strCache>
            </c:strRef>
          </c:cat>
          <c:val>
            <c:numRef>
              <c:f>'Chart Data'!$B$2:$B$4</c:f>
              <c:numCache>
                <c:formatCode>General</c:formatCode>
                <c:ptCount val="3"/>
                <c:pt idx="0">
                  <c:v>32.8</c:v>
                </c:pt>
                <c:pt idx="1">
                  <c:v>117</c:v>
                </c:pt>
                <c:pt idx="2">
                  <c:v>671</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222222"/>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500">
                <a:solidFill>
                  <a:srgbClr val="5D5D5D"/>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650">
                <a:solidFill>
                  <a:srgbClr val="5D5D5D"/>
                </a:solidFill>
                <a:latin typeface="DejaVu Sans"/>
                <a:ea typeface="DejaVu Sans"/>
                <a:cs typeface="DejaVu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gradFill xmlns:a="http://schemas.openxmlformats.org/drawingml/2006/main">
          <a:gsLst>
            <a:gs pos="0">
              <a:srgbClr val="7A0019"/>
            </a:gs>
            <a:gs pos="100000">
              <a:srgbClr val="8E122D"/>
            </a:gs>
          </a:gsLst>
          <a:lin ang="10800000"/>
        </a:gra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C4077E-69E9-45E4-8ACB-6707432463B9}"/>
              </a:ext>
            </a:extLst>
          </p:cNvPr>
          <p:cNvSpPr>
            <a:spLocks xmlns:a="http://schemas.openxmlformats.org/drawingml/2006/main" noGrp="1"/>
          </p:cNvSpPr>
          <p:nvPr/>
        </p:nvSpPr>
        <p:spPr>
          <a:xfrm xmlns:a="http://schemas.openxmlformats.org/drawingml/2006/main">
            <a:off x="609600" y="609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75" b="0">
                <a:solidFill>
                  <a:srgbClr val="FFFFFF"/>
                </a:solidFill>
                <a:latin typeface="DejaVu Serif"/>
                <a:ea typeface="DejaVu Serif"/>
                <a:cs typeface="DejaVu Serif"/>
              </a:defRPr>
            </a:pPr>
            <a:r>
              <a:rPr sz="1875" b="0">
                <a:solidFill>
                  <a:srgbClr val="FFFFFF"/>
                </a:solidFill>
                <a:latin typeface="DejaVu Serif"/>
                <a:ea typeface="DejaVu Serif"/>
                <a:cs typeface="DejaVu Serif"/>
              </a:rPr>
              <a:t>Chapman Agentics Labs</a:t>
            </a:r>
          </a:p>
        </p:txBody>
      </p:sp>
      <p:sp>
        <p:nvSpPr>
          <p:cNvPr id="2" name="">
            <a:extLst xmlns:a="http://schemas.openxmlformats.org/drawingml/2006/main">
              <a:ext uri="{FF2B5EF4-FFF2-40B4-BE49-F238E27FC236}">
                <a16:creationId xmlns:a16="http://schemas.microsoft.com/office/drawing/2014/main" id="{39F813F7-9B97-4DF4-8859-C6D919355AE2}"/>
              </a:ext>
            </a:extLst>
          </p:cNvPr>
          <p:cNvSpPr>
            <a:spLocks xmlns:a="http://schemas.openxmlformats.org/drawingml/2006/main" noGrp="1"/>
          </p:cNvSpPr>
          <p:nvPr/>
        </p:nvSpPr>
        <p:spPr>
          <a:xfrm xmlns:a="http://schemas.openxmlformats.org/drawingml/2006/main">
            <a:off x="609600" y="1885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5250" b="1">
                <a:solidFill>
                  <a:srgbClr val="FFFFFF"/>
                </a:solidFill>
                <a:latin typeface="DejaVu Serif"/>
                <a:ea typeface="DejaVu Serif"/>
                <a:cs typeface="DejaVu Serif"/>
              </a:defRPr>
            </a:pPr>
            <a:r>
              <a:rPr sz="5250" b="1">
                <a:solidFill>
                  <a:srgbClr val="FFFFFF"/>
                </a:solidFill>
                <a:latin typeface="DejaVu Serif"/>
                <a:ea typeface="DejaVu Serif"/>
                <a:cs typeface="DejaVu Serif"/>
              </a:rPr>
              <a:t>Human Agent Loop</a:t>
            </a:r>
          </a:p>
        </p:txBody>
      </p:sp>
      <p:sp>
        <p:nvSpPr>
          <p:cNvPr id="3" name="">
            <a:extLst xmlns:a="http://schemas.openxmlformats.org/drawingml/2006/main">
              <a:ext uri="{FF2B5EF4-FFF2-40B4-BE49-F238E27FC236}">
                <a16:creationId xmlns:a16="http://schemas.microsoft.com/office/drawing/2014/main" id="{E2014282-CE3D-4DF9-B356-CDF3257A0817}"/>
              </a:ext>
            </a:extLst>
          </p:cNvPr>
          <p:cNvSpPr>
            <a:spLocks xmlns:a="http://schemas.openxmlformats.org/drawingml/2006/main" noGrp="1"/>
          </p:cNvSpPr>
          <p:nvPr/>
        </p:nvSpPr>
        <p:spPr>
          <a:xfrm xmlns:a="http://schemas.openxmlformats.org/drawingml/2006/main">
            <a:off x="609600" y="30099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475" b="0">
                <a:solidFill>
                  <a:srgbClr val="FFFFFF"/>
                </a:solidFill>
                <a:latin typeface="DejaVu Serif"/>
                <a:ea typeface="DejaVu Serif"/>
                <a:cs typeface="DejaVu Serif"/>
              </a:defRPr>
            </a:pPr>
            <a:r>
              <a:rPr sz="2475" b="0">
                <a:solidFill>
                  <a:srgbClr val="FFFFFF"/>
                </a:solidFill>
                <a:latin typeface="DejaVu Serif"/>
                <a:ea typeface="DejaVu Serif"/>
                <a:cs typeface="DejaVu Serif"/>
              </a:rPr>
              <a:t>Lab 1 · Plan the club lunch</a:t>
            </a:r>
          </a:p>
        </p:txBody>
      </p:sp>
      <p:sp>
        <p:nvSpPr>
          <p:cNvPr id="4" name="">
            <a:extLst xmlns:a="http://schemas.openxmlformats.org/drawingml/2006/main">
              <a:ext uri="{FF2B5EF4-FFF2-40B4-BE49-F238E27FC236}">
                <a16:creationId xmlns:a16="http://schemas.microsoft.com/office/drawing/2014/main" id="{CE8DBE12-660C-4DCB-BE6C-387AE382CF90}"/>
              </a:ext>
            </a:extLst>
          </p:cNvPr>
          <p:cNvSpPr>
            <a:spLocks xmlns:a="http://schemas.openxmlformats.org/drawingml/2006/main" noGrp="1"/>
          </p:cNvSpPr>
          <p:nvPr/>
        </p:nvSpPr>
        <p:spPr>
          <a:xfrm xmlns:a="http://schemas.openxmlformats.org/drawingml/2006/main">
            <a:off x="609600" y="43338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550" b="1">
                <a:solidFill>
                  <a:srgbClr val="FFFFFF"/>
                </a:solidFill>
                <a:latin typeface="DejaVu Serif"/>
                <a:ea typeface="DejaVu Serif"/>
                <a:cs typeface="DejaVu Serif"/>
              </a:defRPr>
            </a:pPr>
            <a:r>
              <a:rPr sz="2550" b="1">
                <a:solidFill>
                  <a:srgbClr val="FFFFFF"/>
                </a:solidFill>
                <a:latin typeface="DejaVu Serif"/>
                <a:ea typeface="DejaVu Serif"/>
                <a:cs typeface="DejaVu Serif"/>
              </a:rPr>
              <a:t>Jordan Ehrman</a:t>
            </a:r>
          </a:p>
        </p:txBody>
      </p:sp>
      <p:sp>
        <p:nvSpPr>
          <p:cNvPr id="5" name="">
            <a:extLst xmlns:a="http://schemas.openxmlformats.org/drawingml/2006/main">
              <a:ext uri="{FF2B5EF4-FFF2-40B4-BE49-F238E27FC236}">
                <a16:creationId xmlns:a16="http://schemas.microsoft.com/office/drawing/2014/main" id="{999968C3-0D2E-4140-B67B-0C335322A772}"/>
              </a:ext>
            </a:extLst>
          </p:cNvPr>
          <p:cNvSpPr>
            <a:spLocks xmlns:a="http://schemas.openxmlformats.org/drawingml/2006/main" noGrp="1"/>
          </p:cNvSpPr>
          <p:nvPr/>
        </p:nvSpPr>
        <p:spPr>
          <a:xfrm xmlns:a="http://schemas.openxmlformats.org/drawingml/2006/main">
            <a:off x="609600" y="47815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100" b="0">
                <a:solidFill>
                  <a:srgbClr val="FFFFFF"/>
                </a:solidFill>
                <a:latin typeface="DejaVu Serif"/>
                <a:ea typeface="DejaVu Serif"/>
                <a:cs typeface="DejaVu Serif"/>
              </a:defRPr>
            </a:pPr>
            <a:r>
              <a:rPr sz="2100" b="0">
                <a:solidFill>
                  <a:srgbClr val="FFFFFF"/>
                </a:solidFill>
                <a:latin typeface="DejaVu Serif"/>
                <a:ea typeface="DejaVu Serif"/>
                <a:cs typeface="DejaVu Serif"/>
              </a:rPr>
              <a:t>Riverbot Agentics</a:t>
            </a:r>
          </a:p>
        </p:txBody>
      </p:sp>
      <p:sp>
        <p:nvSpPr>
          <p:cNvPr id="6" name="">
            <a:extLst xmlns:a="http://schemas.openxmlformats.org/drawingml/2006/main">
              <a:ext uri="{FF2B5EF4-FFF2-40B4-BE49-F238E27FC236}">
                <a16:creationId xmlns:a16="http://schemas.microsoft.com/office/drawing/2014/main" id="{92ECDDBB-58E2-44C6-BCE0-F2E9900E979C}"/>
              </a:ext>
            </a:extLst>
          </p:cNvPr>
          <p:cNvSpPr>
            <a:spLocks xmlns:a="http://schemas.openxmlformats.org/drawingml/2006/main" noGrp="1"/>
          </p:cNvSpPr>
          <p:nvPr/>
        </p:nvSpPr>
        <p:spPr>
          <a:xfrm xmlns:a="http://schemas.openxmlformats.org/drawingml/2006/main">
            <a:off x="609600" y="5610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00" b="0">
                <a:solidFill>
                  <a:srgbClr val="FFFFFF"/>
                </a:solidFill>
                <a:latin typeface="DejaVu Serif"/>
                <a:ea typeface="DejaVu Serif"/>
                <a:cs typeface="DejaVu Serif"/>
              </a:defRPr>
            </a:pPr>
            <a:r>
              <a:rPr sz="1800" b="0">
                <a:solidFill>
                  <a:srgbClr val="FFFFFF"/>
                </a:solidFill>
                <a:latin typeface="DejaVu Serif"/>
                <a:ea typeface="DejaVu Serif"/>
                <a:cs typeface="DejaVu Serif"/>
              </a:rPr>
              <a:t>Business students + anyone curious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78e4b5bebbc4973"/>
          <a:stretch xmlns:a="http://schemas.openxmlformats.org/drawingml/2006/main"/>
        </p:blipFill>
        <p:spPr>
          <a:xfrm xmlns:a="http://schemas.openxmlformats.org/drawingml/2006/main">
            <a:off x="10858500" y="5429250"/>
            <a:ext cx="723900" cy="723900"/>
          </a:xfrm>
          <a:prstGeom xmlns:a="http://schemas.openxmlformats.org/drawingml/2006/main" prst="rect">
            <a:avLst/>
          </a:prstGeom>
        </p:spPr>
      </p:pic>
    </p:spTree>
    <p:extLst>
      <p:ext uri="{BB962C8B-B14F-4D97-AF65-F5344CB8AC3E}">
        <p14:creationId xmlns:p14="http://schemas.microsoft.com/office/powerpoint/2010/main" val="760687280"/>
      </p:ext>
    </p:extLst>
  </p:cSld>
</p:sld>
</file>

<file path=ppt/slides/slide2.xml><?xml version="1.0" encoding="utf-8"?>
<p:sld xmlns:p="http://schemas.openxmlformats.org/presentationml/2006/main">
  <p:cSld>
    <p:bg>
      <p:bgPr>
        <a:solidFill xmlns:a="http://schemas.openxmlformats.org/drawingml/2006/main">
          <a:srgbClr val="F8F2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47EF21-43E1-4DC6-84E8-C2B00BA2EFDF}"/>
              </a:ext>
            </a:extLst>
          </p:cNvPr>
          <p:cNvSpPr>
            <a:spLocks xmlns:a="http://schemas.openxmlformats.org/drawingml/2006/main" noGrp="1"/>
          </p:cNvSpPr>
          <p:nvPr/>
        </p:nvSpPr>
        <p:spPr>
          <a:xfrm xmlns:a="http://schemas.openxmlformats.org/drawingml/2006/main">
            <a:off x="762000" y="7334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200" b="1">
                <a:solidFill>
                  <a:srgbClr val="7A0019"/>
                </a:solidFill>
                <a:latin typeface="DejaVu Serif"/>
                <a:ea typeface="DejaVu Serif"/>
                <a:cs typeface="DejaVu Serif"/>
              </a:defRPr>
            </a:pPr>
            <a:r>
              <a:rPr sz="4200" b="1">
                <a:solidFill>
                  <a:srgbClr val="7A0019"/>
                </a:solidFill>
                <a:latin typeface="DejaVu Serif"/>
                <a:ea typeface="DejaVu Serif"/>
                <a:cs typeface="DejaVu Serif"/>
              </a:rPr>
              <a:t>Today’s lab question</a:t>
            </a:r>
          </a:p>
        </p:txBody>
      </p:sp>
      <p:sp>
        <p:nvSpPr>
          <p:cNvPr id="2" name="">
            <a:extLst xmlns:a="http://schemas.openxmlformats.org/drawingml/2006/main">
              <a:ext uri="{FF2B5EF4-FFF2-40B4-BE49-F238E27FC236}">
                <a16:creationId xmlns:a16="http://schemas.microsoft.com/office/drawing/2014/main" id="{620A5CD5-5B66-4D49-9B4D-9AE1EFF7D516}"/>
              </a:ext>
            </a:extLst>
          </p:cNvPr>
          <p:cNvSpPr>
            <a:spLocks xmlns:a="http://schemas.openxmlformats.org/drawingml/2006/main" noGrp="1"/>
          </p:cNvSpPr>
          <p:nvPr/>
        </p:nvSpPr>
        <p:spPr>
          <a:xfrm xmlns:a="http://schemas.openxmlformats.org/drawingml/2006/main">
            <a:off x="762000" y="22764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550" b="0">
                <a:solidFill>
                  <a:srgbClr val="7A0019"/>
                </a:solidFill>
                <a:latin typeface="DejaVu Serif"/>
                <a:ea typeface="DejaVu Serif"/>
                <a:cs typeface="DejaVu Serif"/>
              </a:defRPr>
            </a:pPr>
            <a:r>
              <a:rPr sz="2550" b="0">
                <a:solidFill>
                  <a:srgbClr val="7A0019"/>
                </a:solidFill>
                <a:latin typeface="DejaVu Serif"/>
                <a:ea typeface="DejaVu Serif"/>
                <a:cs typeface="DejaVu Serif"/>
              </a:rPr>
              <a:t>What does a model need around it to finish a task?</a:t>
            </a:r>
          </a:p>
        </p:txBody>
      </p:sp>
      <p:sp>
        <p:nvSpPr>
          <p:cNvPr id="3" name="">
            <a:extLst xmlns:a="http://schemas.openxmlformats.org/drawingml/2006/main">
              <a:ext uri="{FF2B5EF4-FFF2-40B4-BE49-F238E27FC236}">
                <a16:creationId xmlns:a16="http://schemas.microsoft.com/office/drawing/2014/main" id="{705EC7E9-75B8-4CA6-96FD-6A59737FAFE7}"/>
              </a:ext>
            </a:extLst>
          </p:cNvPr>
          <p:cNvSpPr>
            <a:spLocks xmlns:a="http://schemas.openxmlformats.org/drawingml/2006/main" noGrp="1"/>
          </p:cNvSpPr>
          <p:nvPr/>
        </p:nvSpPr>
        <p:spPr>
          <a:xfrm xmlns:a="http://schemas.openxmlformats.org/drawingml/2006/main">
            <a:off x="762000" y="33051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We will plan a club lunch, change the facts, and see what happens.</a:t>
            </a:r>
          </a:p>
        </p:txBody>
      </p:sp>
      <p:sp>
        <p:nvSpPr>
          <p:cNvPr id="4" name="">
            <a:extLst xmlns:a="http://schemas.openxmlformats.org/drawingml/2006/main">
              <a:ext uri="{FF2B5EF4-FFF2-40B4-BE49-F238E27FC236}">
                <a16:creationId xmlns:a16="http://schemas.microsoft.com/office/drawing/2014/main" id="{AF15907D-853F-4A7F-A15D-F42A45F0619D}"/>
              </a:ext>
            </a:extLst>
          </p:cNvPr>
          <p:cNvSpPr>
            <a:spLocks xmlns:a="http://schemas.openxmlformats.org/drawingml/2006/main" noGrp="1"/>
          </p:cNvSpPr>
          <p:nvPr/>
        </p:nvSpPr>
        <p:spPr>
          <a:xfrm xmlns:a="http://schemas.openxmlformats.org/drawingml/2006/main">
            <a:off x="685800" y="5619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First, everyone needs a bot to work with.</a:t>
            </a:r>
          </a:p>
        </p:txBody>
      </p:sp>
      <p:sp>
        <p:nvSpPr>
          <p:cNvPr id="5" name="">
            <a:extLst xmlns:a="http://schemas.openxmlformats.org/drawingml/2006/main">
              <a:ext uri="{FF2B5EF4-FFF2-40B4-BE49-F238E27FC236}">
                <a16:creationId xmlns:a16="http://schemas.microsoft.com/office/drawing/2014/main" id="{19244E4E-06D5-4E67-860F-8DC8AC31DA69}"/>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6" name="">
            <a:extLst xmlns:a="http://schemas.openxmlformats.org/drawingml/2006/main">
              <a:ext uri="{FF2B5EF4-FFF2-40B4-BE49-F238E27FC236}">
                <a16:creationId xmlns:a16="http://schemas.microsoft.com/office/drawing/2014/main" id="{BA6D9F01-D4BA-47E5-94E0-302E4DD0787A}"/>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02</a:t>
            </a:r>
          </a:p>
        </p:txBody>
      </p:sp>
    </p:spTree>
    <p:extLst>
      <p:ext uri="{BB962C8B-B14F-4D97-AF65-F5344CB8AC3E}">
        <p14:creationId xmlns:p14="http://schemas.microsoft.com/office/powerpoint/2010/main" val="7218685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5FA6F3-79AE-48C0-9262-1CB67F79C40A}"/>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Your bot for today</a:t>
            </a:r>
          </a:p>
        </p:txBody>
      </p:sp>
      <p:sp>
        <p:nvSpPr>
          <p:cNvPr id="2" name="">
            <a:extLst xmlns:a="http://schemas.openxmlformats.org/drawingml/2006/main">
              <a:ext uri="{FF2B5EF4-FFF2-40B4-BE49-F238E27FC236}">
                <a16:creationId xmlns:a16="http://schemas.microsoft.com/office/drawing/2014/main" id="{79F593F8-60D6-4F48-8010-219E9389BA2D}"/>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D18443FB-CAF7-4689-B851-F5997A4EC983}"/>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03</a:t>
            </a:r>
          </a:p>
        </p:txBody>
      </p:sp>
      <p:sp>
        <p:nvSpPr>
          <p:cNvPr id="4" name="">
            <a:extLst xmlns:a="http://schemas.openxmlformats.org/drawingml/2006/main">
              <a:ext uri="{FF2B5EF4-FFF2-40B4-BE49-F238E27FC236}">
                <a16:creationId xmlns:a16="http://schemas.microsoft.com/office/drawing/2014/main" id="{4BC4F232-85AD-4440-B4A3-29B0CB3C2169}"/>
              </a:ext>
            </a:extLst>
          </p:cNvPr>
          <p:cNvSpPr>
            <a:spLocks xmlns:a="http://schemas.openxmlformats.org/drawingml/2006/main" noGrp="1"/>
          </p:cNvSpPr>
          <p:nvPr/>
        </p:nvSpPr>
        <p:spPr>
          <a:xfrm xmlns:a="http://schemas.openxmlformats.org/drawingml/2006/main">
            <a:off x="685800" y="16859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300" b="1">
                <a:solidFill>
                  <a:srgbClr val="7A0019"/>
                </a:solidFill>
                <a:latin typeface="DejaVu Sans"/>
                <a:ea typeface="DejaVu Sans"/>
                <a:cs typeface="DejaVu Sans"/>
              </a:defRPr>
            </a:pPr>
            <a:r>
              <a:rPr sz="3300" b="1">
                <a:solidFill>
                  <a:srgbClr val="7A0019"/>
                </a:solidFill>
                <a:latin typeface="DejaVu Sans"/>
                <a:ea typeface="DejaVu Sans"/>
                <a:cs typeface="DejaVu Sans"/>
              </a:rPr>
              <a:t>pantherai.chapman.edu/login</a:t>
            </a:r>
          </a:p>
        </p:txBody>
      </p:sp>
      <p:sp>
        <p:nvSpPr>
          <p:cNvPr id="5" name="">
            <a:extLst xmlns:a="http://schemas.openxmlformats.org/drawingml/2006/main">
              <a:ext uri="{FF2B5EF4-FFF2-40B4-BE49-F238E27FC236}">
                <a16:creationId xmlns:a16="http://schemas.microsoft.com/office/drawing/2014/main" id="{DE448CE4-F411-4006-A3E3-F7B195FD40E8}"/>
              </a:ext>
            </a:extLst>
          </p:cNvPr>
          <p:cNvSpPr>
            <a:spLocks xmlns:a="http://schemas.openxmlformats.org/drawingml/2006/main" noGrp="1"/>
          </p:cNvSpPr>
          <p:nvPr/>
        </p:nvSpPr>
        <p:spPr>
          <a:xfrm xmlns:a="http://schemas.openxmlformats.org/drawingml/2006/main">
            <a:off x="685800" y="2800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b="0">
                <a:solidFill>
                  <a:srgbClr val="222222"/>
                </a:solidFill>
                <a:latin typeface="DejaVu Serif"/>
                <a:ea typeface="DejaVu Serif"/>
                <a:cs typeface="DejaVu Serif"/>
              </a:defRPr>
            </a:pPr>
            <a:r>
              <a:rPr sz="2400" b="0">
                <a:solidFill>
                  <a:srgbClr val="222222"/>
                </a:solidFill>
                <a:latin typeface="DejaVu Serif"/>
                <a:ea typeface="DejaVu Serif"/>
                <a:cs typeface="DejaVu Serif"/>
              </a:rPr>
              <a:t>1.  Choose “Chapman SSO Login”</a:t>
            </a:r>
          </a:p>
        </p:txBody>
      </p:sp>
      <p:sp>
        <p:nvSpPr>
          <p:cNvPr id="6" name="">
            <a:extLst xmlns:a="http://schemas.openxmlformats.org/drawingml/2006/main">
              <a:ext uri="{FF2B5EF4-FFF2-40B4-BE49-F238E27FC236}">
                <a16:creationId xmlns:a16="http://schemas.microsoft.com/office/drawing/2014/main" id="{A414FADB-7908-4755-8791-58B87959B168}"/>
              </a:ext>
            </a:extLst>
          </p:cNvPr>
          <p:cNvSpPr>
            <a:spLocks xmlns:a="http://schemas.openxmlformats.org/drawingml/2006/main" noGrp="1"/>
          </p:cNvSpPr>
          <p:nvPr/>
        </p:nvSpPr>
        <p:spPr>
          <a:xfrm xmlns:a="http://schemas.openxmlformats.org/drawingml/2006/main">
            <a:off x="685800" y="35528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b="0">
                <a:solidFill>
                  <a:srgbClr val="222222"/>
                </a:solidFill>
                <a:latin typeface="DejaVu Serif"/>
                <a:ea typeface="DejaVu Serif"/>
                <a:cs typeface="DejaVu Serif"/>
              </a:defRPr>
            </a:pPr>
            <a:r>
              <a:rPr sz="2400" b="0">
                <a:solidFill>
                  <a:srgbClr val="222222"/>
                </a:solidFill>
                <a:latin typeface="DejaVu Serif"/>
                <a:ea typeface="DejaVu Serif"/>
                <a:cs typeface="DejaVu Serif"/>
              </a:rPr>
              <a:t>2.  Sign in with your Chapman account</a:t>
            </a:r>
          </a:p>
        </p:txBody>
      </p:sp>
      <p:sp>
        <p:nvSpPr>
          <p:cNvPr id="7" name="">
            <a:extLst xmlns:a="http://schemas.openxmlformats.org/drawingml/2006/main">
              <a:ext uri="{FF2B5EF4-FFF2-40B4-BE49-F238E27FC236}">
                <a16:creationId xmlns:a16="http://schemas.microsoft.com/office/drawing/2014/main" id="{B11A8BB6-B2F9-4079-A51A-0678CA8BA8B1}"/>
              </a:ext>
            </a:extLst>
          </p:cNvPr>
          <p:cNvSpPr>
            <a:spLocks xmlns:a="http://schemas.openxmlformats.org/drawingml/2006/main" noGrp="1"/>
          </p:cNvSpPr>
          <p:nvPr/>
        </p:nvSpPr>
        <p:spPr>
          <a:xfrm xmlns:a="http://schemas.openxmlformats.org/drawingml/2006/main">
            <a:off x="685800" y="43053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00" b="0">
                <a:solidFill>
                  <a:srgbClr val="222222"/>
                </a:solidFill>
                <a:latin typeface="DejaVu Serif"/>
                <a:ea typeface="DejaVu Serif"/>
                <a:cs typeface="DejaVu Serif"/>
              </a:defRPr>
            </a:pPr>
            <a:r>
              <a:rPr sz="2400" b="0">
                <a:solidFill>
                  <a:srgbClr val="222222"/>
                </a:solidFill>
                <a:latin typeface="DejaVu Serif"/>
                <a:ea typeface="DejaVu Serif"/>
                <a:cs typeface="DejaVu Serif"/>
              </a:rPr>
              <a:t>3.  Start a new chat. Pick an available model.</a:t>
            </a:r>
          </a:p>
        </p:txBody>
      </p:sp>
      <p:sp>
        <p:nvSpPr>
          <p:cNvPr id="8" name="">
            <a:extLst xmlns:a="http://schemas.openxmlformats.org/drawingml/2006/main">
              <a:ext uri="{FF2B5EF4-FFF2-40B4-BE49-F238E27FC236}">
                <a16:creationId xmlns:a16="http://schemas.microsoft.com/office/drawing/2014/main" id="{0F1A4BD0-90DE-457F-8E10-D2BCE546664B}"/>
              </a:ext>
            </a:extLst>
          </p:cNvPr>
          <p:cNvSpPr>
            <a:spLocks xmlns:a="http://schemas.openxmlformats.org/drawingml/2006/main" noGrp="1"/>
          </p:cNvSpPr>
          <p:nvPr/>
        </p:nvSpPr>
        <p:spPr>
          <a:xfrm xmlns:a="http://schemas.openxmlformats.org/drawingml/2006/main">
            <a:off x="685800" y="56769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Free for active Chapman students, faculty and staff. No personal paid plan needed for this lab.</a:t>
            </a:r>
          </a:p>
        </p:txBody>
      </p:sp>
    </p:spTree>
    <p:extLst>
      <p:ext uri="{BB962C8B-B14F-4D97-AF65-F5344CB8AC3E}">
        <p14:creationId xmlns:p14="http://schemas.microsoft.com/office/powerpoint/2010/main" val="1531603897"/>
      </p:ext>
    </p:extLst>
  </p:cSld>
</p:sld>
</file>

<file path=ppt/slides/slide4.xml><?xml version="1.0" encoding="utf-8"?>
<p:sld xmlns:p="http://schemas.openxmlformats.org/presentationml/2006/main">
  <p:cSld>
    <p:bg>
      <p:bgPr>
        <a:solidFill xmlns:a="http://schemas.openxmlformats.org/drawingml/2006/main">
          <a:srgbClr val="F8F2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C9ADC6-94EF-48B1-8B0A-AFF3800FE304}"/>
              </a:ext>
            </a:extLst>
          </p:cNvPr>
          <p:cNvSpPr>
            <a:spLocks xmlns:a="http://schemas.openxmlformats.org/drawingml/2006/main" noGrp="1"/>
          </p:cNvSpPr>
          <p:nvPr/>
        </p:nvSpPr>
        <p:spPr>
          <a:xfrm xmlns:a="http://schemas.openxmlformats.org/drawingml/2006/main">
            <a:off x="762000" y="7334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200" b="1">
                <a:solidFill>
                  <a:srgbClr val="7A0019"/>
                </a:solidFill>
                <a:latin typeface="DejaVu Serif"/>
                <a:ea typeface="DejaVu Serif"/>
                <a:cs typeface="DejaVu Serif"/>
              </a:defRPr>
            </a:pPr>
            <a:r>
              <a:rPr sz="4200" b="1">
                <a:solidFill>
                  <a:srgbClr val="7A0019"/>
                </a:solidFill>
                <a:latin typeface="DejaVu Serif"/>
                <a:ea typeface="DejaVu Serif"/>
                <a:cs typeface="DejaVu Serif"/>
              </a:rPr>
              <a:t>What you are choosing</a:t>
            </a:r>
          </a:p>
        </p:txBody>
      </p:sp>
      <p:sp>
        <p:nvSpPr>
          <p:cNvPr id="2" name="">
            <a:extLst xmlns:a="http://schemas.openxmlformats.org/drawingml/2006/main">
              <a:ext uri="{FF2B5EF4-FFF2-40B4-BE49-F238E27FC236}">
                <a16:creationId xmlns:a16="http://schemas.microsoft.com/office/drawing/2014/main" id="{299F1CA9-F392-4777-9024-DB8B82EDD41F}"/>
              </a:ext>
            </a:extLst>
          </p:cNvPr>
          <p:cNvSpPr>
            <a:spLocks xmlns:a="http://schemas.openxmlformats.org/drawingml/2006/main" noGrp="1"/>
          </p:cNvSpPr>
          <p:nvPr/>
        </p:nvSpPr>
        <p:spPr>
          <a:xfrm xmlns:a="http://schemas.openxmlformats.org/drawingml/2006/main">
            <a:off x="762000" y="22764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550" b="0">
                <a:solidFill>
                  <a:srgbClr val="7A0019"/>
                </a:solidFill>
                <a:latin typeface="DejaVu Serif"/>
                <a:ea typeface="DejaVu Serif"/>
                <a:cs typeface="DejaVu Serif"/>
              </a:defRPr>
            </a:pPr>
            <a:r>
              <a:rPr sz="2550" b="0">
                <a:solidFill>
                  <a:srgbClr val="7A0019"/>
                </a:solidFill>
                <a:latin typeface="DejaVu Serif"/>
                <a:ea typeface="DejaVu Serif"/>
                <a:cs typeface="DejaVu Serif"/>
              </a:rPr>
              <a:t>Your chat window is ready. The model menu chooses the engine inside it.</a:t>
            </a:r>
          </a:p>
        </p:txBody>
      </p:sp>
      <p:sp>
        <p:nvSpPr>
          <p:cNvPr id="3" name="">
            <a:extLst xmlns:a="http://schemas.openxmlformats.org/drawingml/2006/main">
              <a:ext uri="{FF2B5EF4-FFF2-40B4-BE49-F238E27FC236}">
                <a16:creationId xmlns:a16="http://schemas.microsoft.com/office/drawing/2014/main" id="{B5F76501-D579-410F-AC83-049A9142346C}"/>
              </a:ext>
            </a:extLst>
          </p:cNvPr>
          <p:cNvSpPr>
            <a:spLocks xmlns:a="http://schemas.openxmlformats.org/drawingml/2006/main" noGrp="1"/>
          </p:cNvSpPr>
          <p:nvPr/>
        </p:nvSpPr>
        <p:spPr>
          <a:xfrm xmlns:a="http://schemas.openxmlformats.org/drawingml/2006/main">
            <a:off x="762000" y="33051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Before we begin, here is how models differ and what those differences mean for this lab.</a:t>
            </a:r>
          </a:p>
        </p:txBody>
      </p:sp>
      <p:sp>
        <p:nvSpPr>
          <p:cNvPr id="4" name="">
            <a:extLst xmlns:a="http://schemas.openxmlformats.org/drawingml/2006/main">
              <a:ext uri="{FF2B5EF4-FFF2-40B4-BE49-F238E27FC236}">
                <a16:creationId xmlns:a16="http://schemas.microsoft.com/office/drawing/2014/main" id="{EB25BEF7-0316-4F73-B1D4-58638685CD36}"/>
              </a:ext>
            </a:extLst>
          </p:cNvPr>
          <p:cNvSpPr>
            <a:spLocks xmlns:a="http://schemas.openxmlformats.org/drawingml/2006/main" noGrp="1"/>
          </p:cNvSpPr>
          <p:nvPr/>
        </p:nvSpPr>
        <p:spPr>
          <a:xfrm xmlns:a="http://schemas.openxmlformats.org/drawingml/2006/main">
            <a:off x="685800" y="5619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Keep the model name you selected for your worksheet.</a:t>
            </a:r>
          </a:p>
        </p:txBody>
      </p:sp>
      <p:sp>
        <p:nvSpPr>
          <p:cNvPr id="5" name="">
            <a:extLst xmlns:a="http://schemas.openxmlformats.org/drawingml/2006/main">
              <a:ext uri="{FF2B5EF4-FFF2-40B4-BE49-F238E27FC236}">
                <a16:creationId xmlns:a16="http://schemas.microsoft.com/office/drawing/2014/main" id="{774C0E99-FE28-47E6-B370-A21749051944}"/>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6" name="">
            <a:extLst xmlns:a="http://schemas.openxmlformats.org/drawingml/2006/main">
              <a:ext uri="{FF2B5EF4-FFF2-40B4-BE49-F238E27FC236}">
                <a16:creationId xmlns:a16="http://schemas.microsoft.com/office/drawing/2014/main" id="{CA611751-CEEE-4744-BF3D-08A019287ADC}"/>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04</a:t>
            </a:r>
          </a:p>
        </p:txBody>
      </p:sp>
    </p:spTree>
    <p:extLst>
      <p:ext uri="{BB962C8B-B14F-4D97-AF65-F5344CB8AC3E}">
        <p14:creationId xmlns:p14="http://schemas.microsoft.com/office/powerpoint/2010/main" val="14784428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F7B2CC-6847-4897-A9D4-2C46FFE003E3}"/>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One portal, several models</a:t>
            </a:r>
          </a:p>
        </p:txBody>
      </p:sp>
      <p:sp>
        <p:nvSpPr>
          <p:cNvPr id="2" name="">
            <a:extLst xmlns:a="http://schemas.openxmlformats.org/drawingml/2006/main">
              <a:ext uri="{FF2B5EF4-FFF2-40B4-BE49-F238E27FC236}">
                <a16:creationId xmlns:a16="http://schemas.microsoft.com/office/drawing/2014/main" id="{A68CF1D4-3F0B-455F-9CBA-650E580DF927}"/>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8535E90A-CF48-4067-8892-2E2C353C88FC}"/>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05</a:t>
            </a:r>
          </a:p>
        </p:txBody>
      </p:sp>
      <p:sp>
        <p:nvSpPr>
          <p:cNvPr id="4" name="">
            <a:extLst xmlns:a="http://schemas.openxmlformats.org/drawingml/2006/main">
              <a:ext uri="{FF2B5EF4-FFF2-40B4-BE49-F238E27FC236}">
                <a16:creationId xmlns:a16="http://schemas.microsoft.com/office/drawing/2014/main" id="{4504E79F-F50F-4A5E-8653-5F45E0EAF2C8}"/>
              </a:ext>
            </a:extLst>
          </p:cNvPr>
          <p:cNvSpPr>
            <a:spLocks xmlns:a="http://schemas.openxmlformats.org/drawingml/2006/main" noGrp="1"/>
          </p:cNvSpPr>
          <p:nvPr/>
        </p:nvSpPr>
        <p:spPr>
          <a:xfrm xmlns:a="http://schemas.openxmlformats.org/drawingml/2006/main">
            <a:off x="685800" y="17716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75" b="0">
                <a:solidFill>
                  <a:srgbClr val="222222"/>
                </a:solidFill>
                <a:latin typeface="DejaVu Serif"/>
                <a:ea typeface="DejaVu Serif"/>
                <a:cs typeface="DejaVu Serif"/>
              </a:defRPr>
            </a:pPr>
            <a:r>
              <a:rPr sz="2475" b="0">
                <a:solidFill>
                  <a:srgbClr val="222222"/>
                </a:solidFill>
                <a:latin typeface="DejaVu Serif"/>
                <a:ea typeface="DejaVu Serif"/>
                <a:cs typeface="DejaVu Serif"/>
              </a:rPr>
              <a:t>The app is the workspace: PantherAI / LibreChat.</a:t>
            </a:r>
          </a:p>
        </p:txBody>
      </p:sp>
      <p:sp>
        <p:nvSpPr>
          <p:cNvPr id="5" name="">
            <a:extLst xmlns:a="http://schemas.openxmlformats.org/drawingml/2006/main">
              <a:ext uri="{FF2B5EF4-FFF2-40B4-BE49-F238E27FC236}">
                <a16:creationId xmlns:a16="http://schemas.microsoft.com/office/drawing/2014/main" id="{5465498E-1826-40CE-BE37-F8CD002404D9}"/>
              </a:ext>
            </a:extLst>
          </p:cNvPr>
          <p:cNvSpPr>
            <a:spLocks xmlns:a="http://schemas.openxmlformats.org/drawingml/2006/main" noGrp="1"/>
          </p:cNvSpPr>
          <p:nvPr/>
        </p:nvSpPr>
        <p:spPr>
          <a:xfrm xmlns:a="http://schemas.openxmlformats.org/drawingml/2006/main">
            <a:off x="685800" y="28670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75" b="0">
                <a:solidFill>
                  <a:srgbClr val="222222"/>
                </a:solidFill>
                <a:latin typeface="DejaVu Serif"/>
                <a:ea typeface="DejaVu Serif"/>
                <a:cs typeface="DejaVu Serif"/>
              </a:defRPr>
            </a:pPr>
            <a:r>
              <a:rPr sz="2475" b="0">
                <a:solidFill>
                  <a:srgbClr val="222222"/>
                </a:solidFill>
                <a:latin typeface="DejaVu Serif"/>
                <a:ea typeface="DejaVu Serif"/>
                <a:cs typeface="DejaVu Serif"/>
              </a:rPr>
              <a:t>The model is the engine: GPT, Claude, Gemini, or another available option.</a:t>
            </a:r>
          </a:p>
        </p:txBody>
      </p:sp>
      <p:sp>
        <p:nvSpPr>
          <p:cNvPr id="6" name="">
            <a:extLst xmlns:a="http://schemas.openxmlformats.org/drawingml/2006/main">
              <a:ext uri="{FF2B5EF4-FFF2-40B4-BE49-F238E27FC236}">
                <a16:creationId xmlns:a16="http://schemas.microsoft.com/office/drawing/2014/main" id="{59348C04-D5F3-4C5E-BC82-554682F45073}"/>
              </a:ext>
            </a:extLst>
          </p:cNvPr>
          <p:cNvSpPr>
            <a:spLocks xmlns:a="http://schemas.openxmlformats.org/drawingml/2006/main" noGrp="1"/>
          </p:cNvSpPr>
          <p:nvPr/>
        </p:nvSpPr>
        <p:spPr>
          <a:xfrm xmlns:a="http://schemas.openxmlformats.org/drawingml/2006/main">
            <a:off x="685800" y="39624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475" b="0">
                <a:solidFill>
                  <a:srgbClr val="222222"/>
                </a:solidFill>
                <a:latin typeface="DejaVu Serif"/>
                <a:ea typeface="DejaVu Serif"/>
                <a:cs typeface="DejaVu Serif"/>
              </a:defRPr>
            </a:pPr>
            <a:r>
              <a:rPr sz="2475" b="0">
                <a:solidFill>
                  <a:srgbClr val="222222"/>
                </a:solidFill>
                <a:latin typeface="DejaVu Serif"/>
                <a:ea typeface="DejaVu Serif"/>
                <a:cs typeface="DejaVu Serif"/>
              </a:rPr>
              <a:t>Tools give the system ways to look things up or act.</a:t>
            </a:r>
          </a:p>
        </p:txBody>
      </p:sp>
      <p:sp>
        <p:nvSpPr>
          <p:cNvPr id="7" name="">
            <a:extLst xmlns:a="http://schemas.openxmlformats.org/drawingml/2006/main">
              <a:ext uri="{FF2B5EF4-FFF2-40B4-BE49-F238E27FC236}">
                <a16:creationId xmlns:a16="http://schemas.microsoft.com/office/drawing/2014/main" id="{3F044F4D-96F7-48AA-A5DA-A4E032FA3D6C}"/>
              </a:ext>
            </a:extLst>
          </p:cNvPr>
          <p:cNvSpPr>
            <a:spLocks xmlns:a="http://schemas.openxmlformats.org/drawingml/2006/main" noGrp="1"/>
          </p:cNvSpPr>
          <p:nvPr/>
        </p:nvSpPr>
        <p:spPr>
          <a:xfrm xmlns:a="http://schemas.openxmlformats.org/drawingml/2006/main">
            <a:off x="685800" y="5391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Closed models: provider hosts the weights. Open weights: downloadable under a license; running them still costs resources.</a:t>
            </a:r>
          </a:p>
        </p:txBody>
      </p:sp>
    </p:spTree>
    <p:extLst>
      <p:ext uri="{BB962C8B-B14F-4D97-AF65-F5344CB8AC3E}">
        <p14:creationId xmlns:p14="http://schemas.microsoft.com/office/powerpoint/2010/main" val="16752255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B39AE3-1E15-4AB6-9104-2A7B142D82D8}"/>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Ability and price vary</a:t>
            </a:r>
          </a:p>
        </p:txBody>
      </p:sp>
      <p:sp>
        <p:nvSpPr>
          <p:cNvPr id="2" name="">
            <a:extLst xmlns:a="http://schemas.openxmlformats.org/drawingml/2006/main">
              <a:ext uri="{FF2B5EF4-FFF2-40B4-BE49-F238E27FC236}">
                <a16:creationId xmlns:a16="http://schemas.microsoft.com/office/drawing/2014/main" id="{CA439530-F705-4B9B-BA9A-35C7B5DC6835}"/>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0B77D56E-1A8F-4778-8603-31B75E1BBB6B}"/>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06</a:t>
            </a:r>
          </a:p>
        </p:txBody>
      </p:sp>
      <p:graphicFrame>
        <p:nvGraphicFramePr>
          <p:cNvPr id="11" name="Chart"/>
          <p:cNvGraphicFramePr/>
          <p:nvPr/>
        </p:nvGraphicFramePr>
        <p:xfrm>
          <a:off xmlns:a="http://schemas.openxmlformats.org/drawingml/2006/main" x="647700" y="1485900"/>
          <a:ext xmlns:a="http://schemas.openxmlformats.org/drawingml/2006/main" cx="10839450" cy="3667125"/>
        </p:xfrm>
        <a:graphic xmlns:a="http://schemas.openxmlformats.org/drawingml/2006/main">
          <a:graphicData uri="http://schemas.openxmlformats.org/drawingml/2006/chart">
            <c:chart xmlns:r="http://schemas.openxmlformats.org/officeDocument/2006/relationships" xmlns:c="http://schemas.openxmlformats.org/drawingml/2006/chart" r:id="R15eb97cfb6644b39"/>
          </a:graphicData>
        </a:graphic>
      </p:graphicFrame>
      <p:sp>
        <p:nvSpPr>
          <p:cNvPr id="5" name="">
            <a:extLst xmlns:a="http://schemas.openxmlformats.org/drawingml/2006/main">
              <a:ext uri="{FF2B5EF4-FFF2-40B4-BE49-F238E27FC236}">
                <a16:creationId xmlns:a16="http://schemas.microsoft.com/office/drawing/2014/main" id="{4092267C-7989-49EE-989A-52A47039845E}"/>
              </a:ext>
            </a:extLst>
          </p:cNvPr>
          <p:cNvSpPr>
            <a:spLocks xmlns:a="http://schemas.openxmlformats.org/drawingml/2006/main" noGrp="1"/>
          </p:cNvSpPr>
          <p:nvPr/>
        </p:nvSpPr>
        <p:spPr>
          <a:xfrm xmlns:a="http://schemas.openxmlformats.org/drawingml/2006/main">
            <a:off x="685800" y="53625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75" b="0">
                <a:solidFill>
                  <a:srgbClr val="222222"/>
                </a:solidFill>
                <a:latin typeface="DejaVu Serif"/>
                <a:ea typeface="DejaVu Serif"/>
                <a:cs typeface="DejaVu Serif"/>
              </a:defRPr>
            </a:pPr>
            <a:r>
              <a:rPr sz="1875" b="0">
                <a:solidFill>
                  <a:srgbClr val="222222"/>
                </a:solidFill>
                <a:latin typeface="DejaVu Serif"/>
                <a:ea typeface="DejaVu Serif"/>
                <a:cs typeface="DejaVu Serif"/>
              </a:rPr>
              <a:t>Composite score (higher is better; not a percentage)</a:t>
            </a:r>
          </a:p>
        </p:txBody>
      </p:sp>
      <p:sp>
        <p:nvSpPr>
          <p:cNvPr id="6" name="">
            <a:extLst xmlns:a="http://schemas.openxmlformats.org/drawingml/2006/main">
              <a:ext uri="{FF2B5EF4-FFF2-40B4-BE49-F238E27FC236}">
                <a16:creationId xmlns:a16="http://schemas.microsoft.com/office/drawing/2014/main" id="{2BD6AFF9-93EC-453C-8EE7-9556BA23C313}"/>
              </a:ext>
            </a:extLst>
          </p:cNvPr>
          <p:cNvSpPr>
            <a:spLocks xmlns:a="http://schemas.openxmlformats.org/drawingml/2006/main" noGrp="1"/>
          </p:cNvSpPr>
          <p:nvPr/>
        </p:nvSpPr>
        <p:spPr>
          <a:xfrm xmlns:a="http://schemas.openxmlformats.org/drawingml/2006/main">
            <a:off x="685800" y="57626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575" b="0">
                <a:solidFill>
                  <a:srgbClr val="5D5D5D"/>
                </a:solidFill>
                <a:latin typeface="DejaVu Serif"/>
                <a:ea typeface="DejaVu Serif"/>
                <a:cs typeface="DejaVu Serif"/>
              </a:defRPr>
            </a:pPr>
            <a:r>
              <a:rPr sz="1575" b="0">
                <a:solidFill>
                  <a:srgbClr val="5D5D5D"/>
                </a:solidFill>
                <a:latin typeface="DejaVu Serif"/>
                <a:ea typeface="DejaVu Serif"/>
                <a:cs typeface="DejaVu Serif"/>
              </a:rPr>
              <a:t>Labels: blended API USD / 1M tokens. PantherAI is free to students.</a:t>
            </a:r>
          </a:p>
        </p:txBody>
      </p:sp>
      <p:sp>
        <p:nvSpPr>
          <p:cNvPr id="7" name="">
            <a:extLst xmlns:a="http://schemas.openxmlformats.org/drawingml/2006/main">
              <a:ext uri="{FF2B5EF4-FFF2-40B4-BE49-F238E27FC236}">
                <a16:creationId xmlns:a16="http://schemas.microsoft.com/office/drawing/2014/main" id="{438081C9-0152-4C76-BF92-2BDD3FBC246E}"/>
              </a:ext>
            </a:extLst>
          </p:cNvPr>
          <p:cNvSpPr>
            <a:spLocks xmlns:a="http://schemas.openxmlformats.org/drawingml/2006/main" noGrp="1"/>
          </p:cNvSpPr>
          <p:nvPr/>
        </p:nvSpPr>
        <p:spPr>
          <a:xfrm xmlns:a="http://schemas.openxmlformats.org/drawingml/2006/main">
            <a:off x="685800" y="61150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Selected LLM Stats data · 22 Sep 2026 · Models shown are not the campus menu.</a:t>
            </a:r>
          </a:p>
        </p:txBody>
      </p:sp>
    </p:spTree>
    <p:extLst>
      <p:ext uri="{BB962C8B-B14F-4D97-AF65-F5344CB8AC3E}">
        <p14:creationId xmlns:p14="http://schemas.microsoft.com/office/powerpoint/2010/main" val="20075836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75DE70-8802-4C67-BC57-9D37BA903FBB}"/>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“Size” needs a little context</a:t>
            </a:r>
          </a:p>
        </p:txBody>
      </p:sp>
      <p:sp>
        <p:nvSpPr>
          <p:cNvPr id="2" name="">
            <a:extLst xmlns:a="http://schemas.openxmlformats.org/drawingml/2006/main">
              <a:ext uri="{FF2B5EF4-FFF2-40B4-BE49-F238E27FC236}">
                <a16:creationId xmlns:a16="http://schemas.microsoft.com/office/drawing/2014/main" id="{7C842C5A-3A5E-4C02-A48D-EFAB86BD80F2}"/>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805C3F4E-BB11-46C6-86B6-E82C2789DC2A}"/>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07</a:t>
            </a:r>
          </a:p>
        </p:txBody>
      </p:sp>
      <p:graphicFrame>
        <p:nvGraphicFramePr>
          <p:cNvPr id="11" name="Chart"/>
          <p:cNvGraphicFramePr/>
          <p:nvPr/>
        </p:nvGraphicFramePr>
        <p:xfrm>
          <a:off xmlns:a="http://schemas.openxmlformats.org/drawingml/2006/main" x="647700" y="1485900"/>
          <a:ext xmlns:a="http://schemas.openxmlformats.org/drawingml/2006/main" cx="10839450" cy="3667125"/>
        </p:xfrm>
        <a:graphic xmlns:a="http://schemas.openxmlformats.org/drawingml/2006/main">
          <a:graphicData uri="http://schemas.openxmlformats.org/drawingml/2006/chart">
            <c:chart xmlns:r="http://schemas.openxmlformats.org/officeDocument/2006/relationships" xmlns:c="http://schemas.openxmlformats.org/drawingml/2006/chart" r:id="R400b1d0b43a64415"/>
          </a:graphicData>
        </a:graphic>
      </p:graphicFrame>
      <p:sp>
        <p:nvSpPr>
          <p:cNvPr id="5" name="">
            <a:extLst xmlns:a="http://schemas.openxmlformats.org/drawingml/2006/main">
              <a:ext uri="{FF2B5EF4-FFF2-40B4-BE49-F238E27FC236}">
                <a16:creationId xmlns:a16="http://schemas.microsoft.com/office/drawing/2014/main" id="{73C482C1-7D72-43A6-853A-1DF19925AB3E}"/>
              </a:ext>
            </a:extLst>
          </p:cNvPr>
          <p:cNvSpPr>
            <a:spLocks xmlns:a="http://schemas.openxmlformats.org/drawingml/2006/main" noGrp="1"/>
          </p:cNvSpPr>
          <p:nvPr/>
        </p:nvSpPr>
        <p:spPr>
          <a:xfrm xmlns:a="http://schemas.openxmlformats.org/drawingml/2006/main">
            <a:off x="685800" y="52578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025" b="0">
                <a:solidFill>
                  <a:srgbClr val="222222"/>
                </a:solidFill>
                <a:latin typeface="DejaVu Serif"/>
                <a:ea typeface="DejaVu Serif"/>
                <a:cs typeface="DejaVu Serif"/>
              </a:defRPr>
            </a:pPr>
            <a:r>
              <a:rPr sz="2025" b="0">
                <a:solidFill>
                  <a:srgbClr val="222222"/>
                </a:solidFill>
                <a:latin typeface="DejaVu Serif"/>
                <a:ea typeface="DejaVu Serif"/>
                <a:cs typeface="DejaVu Serif"/>
              </a:rPr>
              <a:t>Total parameters, billions</a:t>
            </a:r>
          </a:p>
        </p:txBody>
      </p:sp>
      <p:sp>
        <p:nvSpPr>
          <p:cNvPr id="6" name="">
            <a:extLst xmlns:a="http://schemas.openxmlformats.org/drawingml/2006/main">
              <a:ext uri="{FF2B5EF4-FFF2-40B4-BE49-F238E27FC236}">
                <a16:creationId xmlns:a16="http://schemas.microsoft.com/office/drawing/2014/main" id="{C540DE10-070B-4839-97A0-3FDFE6296B4E}"/>
              </a:ext>
            </a:extLst>
          </p:cNvPr>
          <p:cNvSpPr>
            <a:spLocks xmlns:a="http://schemas.openxmlformats.org/drawingml/2006/main" noGrp="1"/>
          </p:cNvSpPr>
          <p:nvPr/>
        </p:nvSpPr>
        <p:spPr>
          <a:xfrm xmlns:a="http://schemas.openxmlformats.org/drawingml/2006/main">
            <a:off x="685800" y="568642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75" b="0">
                <a:solidFill>
                  <a:srgbClr val="7A0019"/>
                </a:solidFill>
                <a:latin typeface="DejaVu Serif"/>
                <a:ea typeface="DejaVu Serif"/>
                <a:cs typeface="DejaVu Serif"/>
              </a:defRPr>
            </a:pPr>
            <a:r>
              <a:rPr sz="1875" b="0">
                <a:solidFill>
                  <a:srgbClr val="7A0019"/>
                </a:solidFill>
                <a:latin typeface="DejaVu Serif"/>
                <a:ea typeface="DejaVu Serif"/>
                <a:cs typeface="DejaVu Serif"/>
              </a:rPr>
              <a:t>Active subset: gpt-oss-120b 5.1B / DeepSeek-R1 37B</a:t>
            </a:r>
          </a:p>
        </p:txBody>
      </p:sp>
      <p:sp>
        <p:nvSpPr>
          <p:cNvPr id="7" name="">
            <a:extLst xmlns:a="http://schemas.openxmlformats.org/drawingml/2006/main">
              <a:ext uri="{FF2B5EF4-FFF2-40B4-BE49-F238E27FC236}">
                <a16:creationId xmlns:a16="http://schemas.microsoft.com/office/drawing/2014/main" id="{5F192C6E-71F5-458E-B19C-2CF05BEEE81D}"/>
              </a:ext>
            </a:extLst>
          </p:cNvPr>
          <p:cNvSpPr>
            <a:spLocks xmlns:a="http://schemas.openxmlformats.org/drawingml/2006/main" noGrp="1"/>
          </p:cNvSpPr>
          <p:nvPr/>
        </p:nvSpPr>
        <p:spPr>
          <a:xfrm xmlns:a="http://schemas.openxmlformats.org/drawingml/2006/main">
            <a:off x="685800" y="610552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425" b="0">
                <a:solidFill>
                  <a:srgbClr val="5D5D5D"/>
                </a:solidFill>
                <a:latin typeface="DejaVu Serif"/>
                <a:ea typeface="DejaVu Serif"/>
                <a:cs typeface="DejaVu Serif"/>
              </a:defRPr>
            </a:pPr>
            <a:r>
              <a:rPr sz="1425" b="0">
                <a:solidFill>
                  <a:srgbClr val="5D5D5D"/>
                </a:solidFill>
                <a:latin typeface="DejaVu Serif"/>
                <a:ea typeface="DejaVu Serif"/>
                <a:cs typeface="DejaVu Serif"/>
              </a:rPr>
              <a:t>Size alone does not determine quality. Closed-model sizes often remain undisclosed.</a:t>
            </a:r>
          </a:p>
        </p:txBody>
      </p:sp>
    </p:spTree>
    <p:extLst>
      <p:ext uri="{BB962C8B-B14F-4D97-AF65-F5344CB8AC3E}">
        <p14:creationId xmlns:p14="http://schemas.microsoft.com/office/powerpoint/2010/main" val="774406772"/>
      </p:ext>
    </p:extLst>
  </p:cSld>
</p:sld>
</file>

<file path=ppt/slides/slide8.xml><?xml version="1.0" encoding="utf-8"?>
<p:sld xmlns:p="http://schemas.openxmlformats.org/presentationml/2006/main">
  <p:cSld>
    <p:bg>
      <p:bgPr>
        <a:solidFill xmlns:a="http://schemas.openxmlformats.org/drawingml/2006/main">
          <a:srgbClr val="F8F2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AD7EF7-3FFF-411C-860D-2B51F04F637D}"/>
              </a:ext>
            </a:extLst>
          </p:cNvPr>
          <p:cNvSpPr>
            <a:spLocks xmlns:a="http://schemas.openxmlformats.org/drawingml/2006/main" noGrp="1"/>
          </p:cNvSpPr>
          <p:nvPr/>
        </p:nvSpPr>
        <p:spPr>
          <a:xfrm xmlns:a="http://schemas.openxmlformats.org/drawingml/2006/main">
            <a:off x="762000" y="7334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675" b="1">
                <a:solidFill>
                  <a:srgbClr val="7A0019"/>
                </a:solidFill>
                <a:latin typeface="DejaVu Serif"/>
                <a:ea typeface="DejaVu Serif"/>
                <a:cs typeface="DejaVu Serif"/>
              </a:defRPr>
            </a:pPr>
            <a:r>
              <a:rPr sz="3675" b="1">
                <a:solidFill>
                  <a:srgbClr val="7A0019"/>
                </a:solidFill>
                <a:latin typeface="DejaVu Serif"/>
                <a:ea typeface="DejaVu Serif"/>
                <a:cs typeface="DejaVu Serif"/>
              </a:rPr>
              <a:t>A capable model can still miss the point</a:t>
            </a:r>
          </a:p>
        </p:txBody>
      </p:sp>
      <p:sp>
        <p:nvSpPr>
          <p:cNvPr id="2" name="">
            <a:extLst xmlns:a="http://schemas.openxmlformats.org/drawingml/2006/main">
              <a:ext uri="{FF2B5EF4-FFF2-40B4-BE49-F238E27FC236}">
                <a16:creationId xmlns:a16="http://schemas.microsoft.com/office/drawing/2014/main" id="{05B788CD-7D86-4219-B613-357140604912}"/>
              </a:ext>
            </a:extLst>
          </p:cNvPr>
          <p:cNvSpPr>
            <a:spLocks xmlns:a="http://schemas.openxmlformats.org/drawingml/2006/main" noGrp="1"/>
          </p:cNvSpPr>
          <p:nvPr/>
        </p:nvSpPr>
        <p:spPr>
          <a:xfrm xmlns:a="http://schemas.openxmlformats.org/drawingml/2006/main">
            <a:off x="762000" y="24669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550" b="0">
                <a:solidFill>
                  <a:srgbClr val="7A0019"/>
                </a:solidFill>
                <a:latin typeface="DejaVu Serif"/>
                <a:ea typeface="DejaVu Serif"/>
                <a:cs typeface="DejaVu Serif"/>
              </a:defRPr>
            </a:pPr>
            <a:r>
              <a:rPr sz="2550" b="0">
                <a:solidFill>
                  <a:srgbClr val="7A0019"/>
                </a:solidFill>
                <a:latin typeface="DejaVu Serif"/>
                <a:ea typeface="DejaVu Serif"/>
                <a:cs typeface="DejaVu Serif"/>
              </a:rPr>
              <a:t>A benchmark score does not tell us whether this particular answer is useful.</a:t>
            </a:r>
          </a:p>
        </p:txBody>
      </p:sp>
      <p:sp>
        <p:nvSpPr>
          <p:cNvPr id="3" name="">
            <a:extLst xmlns:a="http://schemas.openxmlformats.org/drawingml/2006/main">
              <a:ext uri="{FF2B5EF4-FFF2-40B4-BE49-F238E27FC236}">
                <a16:creationId xmlns:a16="http://schemas.microsoft.com/office/drawing/2014/main" id="{F50CB9F4-1D28-4FBA-BF59-940177D75C0C}"/>
              </a:ext>
            </a:extLst>
          </p:cNvPr>
          <p:cNvSpPr>
            <a:spLocks xmlns:a="http://schemas.openxmlformats.org/drawingml/2006/main" noGrp="1"/>
          </p:cNvSpPr>
          <p:nvPr/>
        </p:nvSpPr>
        <p:spPr>
          <a:xfrm xmlns:a="http://schemas.openxmlformats.org/drawingml/2006/main">
            <a:off x="762000" y="34956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These four conversations show gaps between the words, the context, and the intended result.</a:t>
            </a:r>
          </a:p>
        </p:txBody>
      </p:sp>
      <p:sp>
        <p:nvSpPr>
          <p:cNvPr id="4" name="">
            <a:extLst xmlns:a="http://schemas.openxmlformats.org/drawingml/2006/main">
              <a:ext uri="{FF2B5EF4-FFF2-40B4-BE49-F238E27FC236}">
                <a16:creationId xmlns:a16="http://schemas.microsoft.com/office/drawing/2014/main" id="{A11D8F10-369D-4907-B7EC-797A3D652C03}"/>
              </a:ext>
            </a:extLst>
          </p:cNvPr>
          <p:cNvSpPr>
            <a:spLocks xmlns:a="http://schemas.openxmlformats.org/drawingml/2006/main" noGrp="1"/>
          </p:cNvSpPr>
          <p:nvPr/>
        </p:nvSpPr>
        <p:spPr>
          <a:xfrm xmlns:a="http://schemas.openxmlformats.org/drawingml/2006/main">
            <a:off x="685800" y="5619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For each example: what did the person expect, and what did the bot do?</a:t>
            </a:r>
          </a:p>
        </p:txBody>
      </p:sp>
      <p:sp>
        <p:nvSpPr>
          <p:cNvPr id="5" name="">
            <a:extLst xmlns:a="http://schemas.openxmlformats.org/drawingml/2006/main">
              <a:ext uri="{FF2B5EF4-FFF2-40B4-BE49-F238E27FC236}">
                <a16:creationId xmlns:a16="http://schemas.microsoft.com/office/drawing/2014/main" id="{19BD7139-9096-48BB-A4E5-19A5E212AE7A}"/>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6" name="">
            <a:extLst xmlns:a="http://schemas.openxmlformats.org/drawingml/2006/main">
              <a:ext uri="{FF2B5EF4-FFF2-40B4-BE49-F238E27FC236}">
                <a16:creationId xmlns:a16="http://schemas.microsoft.com/office/drawing/2014/main" id="{DA498125-8F7F-4297-861D-EC2642770E23}"/>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08</a:t>
            </a:r>
          </a:p>
        </p:txBody>
      </p:sp>
    </p:spTree>
    <p:extLst>
      <p:ext uri="{BB962C8B-B14F-4D97-AF65-F5344CB8AC3E}">
        <p14:creationId xmlns:p14="http://schemas.microsoft.com/office/powerpoint/2010/main" val="19231268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3262CE-FD01-44AA-872C-D8E5DA469378}"/>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Nineteen what, exactly?</a:t>
            </a:r>
          </a:p>
        </p:txBody>
      </p:sp>
      <p:sp>
        <p:nvSpPr>
          <p:cNvPr id="2" name="">
            <a:extLst xmlns:a="http://schemas.openxmlformats.org/drawingml/2006/main">
              <a:ext uri="{FF2B5EF4-FFF2-40B4-BE49-F238E27FC236}">
                <a16:creationId xmlns:a16="http://schemas.microsoft.com/office/drawing/2014/main" id="{0786D9EB-9934-400D-8985-AEFEB750C47D}"/>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9023C417-BEFD-41C0-93F5-3131AFEE03DD}"/>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09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672ea9aa8244639"/>
          <a:stretch xmlns:a="http://schemas.openxmlformats.org/drawingml/2006/main"/>
        </p:blipFill>
        <p:spPr>
          <a:xfrm xmlns:a="http://schemas.openxmlformats.org/drawingml/2006/main">
            <a:off x="6927690" y="1533525"/>
            <a:ext cx="3727770"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2A48682-3CA7-4A84-8B69-69B4ACAD9ABE}"/>
              </a:ext>
            </a:extLst>
          </p:cNvPr>
          <p:cNvSpPr>
            <a:spLocks xmlns:a="http://schemas.openxmlformats.org/drawingml/2006/main" noGrp="1"/>
          </p:cNvSpPr>
          <p:nvPr/>
        </p:nvSpPr>
        <p:spPr>
          <a:xfrm xmlns:a="http://schemas.openxmlformats.org/drawingml/2006/main">
            <a:off x="685800" y="16478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1">
                <a:solidFill>
                  <a:srgbClr val="7A0019"/>
                </a:solidFill>
                <a:latin typeface="DejaVu Serif"/>
                <a:ea typeface="DejaVu Serif"/>
                <a:cs typeface="DejaVu Serif"/>
              </a:defRPr>
            </a:pPr>
            <a:r>
              <a:rPr sz="2250" b="1">
                <a:solidFill>
                  <a:srgbClr val="7A0019"/>
                </a:solidFill>
                <a:latin typeface="DejaVu Serif"/>
                <a:ea typeface="DejaVu Serif"/>
                <a:cs typeface="DejaVu Serif"/>
              </a:rPr>
              <a:t>“Give me 19”</a:t>
            </a:r>
          </a:p>
        </p:txBody>
      </p:sp>
      <p:sp>
        <p:nvSpPr>
          <p:cNvPr id="6" name="">
            <a:extLst xmlns:a="http://schemas.openxmlformats.org/drawingml/2006/main">
              <a:ext uri="{FF2B5EF4-FFF2-40B4-BE49-F238E27FC236}">
                <a16:creationId xmlns:a16="http://schemas.microsoft.com/office/drawing/2014/main" id="{2F3CF611-91B9-49B7-8A65-7CB261F6AC89}"/>
              </a:ext>
            </a:extLst>
          </p:cNvPr>
          <p:cNvSpPr>
            <a:spLocks xmlns:a="http://schemas.openxmlformats.org/drawingml/2006/main" noGrp="1"/>
          </p:cNvSpPr>
          <p:nvPr/>
        </p:nvSpPr>
        <p:spPr>
          <a:xfrm xmlns:a="http://schemas.openxmlformats.org/drawingml/2006/main">
            <a:off x="685800" y="2990850"/>
            <a:ext cx="49053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b="0">
                <a:solidFill>
                  <a:srgbClr val="222222"/>
                </a:solidFill>
                <a:latin typeface="DejaVu Serif"/>
                <a:ea typeface="DejaVu Serif"/>
                <a:cs typeface="DejaVu Serif"/>
              </a:defRPr>
            </a:pPr>
            <a:r>
              <a:rPr sz="2100" b="0">
                <a:solidFill>
                  <a:srgbClr val="222222"/>
                </a:solidFill>
                <a:latin typeface="DejaVu Serif"/>
                <a:ea typeface="DejaVu Serif"/>
                <a:cs typeface="DejaVu Serif"/>
              </a:rPr>
              <a:t>“19”</a:t>
            </a:r>
          </a:p>
        </p:txBody>
      </p:sp>
      <p:sp>
        <p:nvSpPr>
          <p:cNvPr id="7" name="">
            <a:extLst xmlns:a="http://schemas.openxmlformats.org/drawingml/2006/main">
              <a:ext uri="{FF2B5EF4-FFF2-40B4-BE49-F238E27FC236}">
                <a16:creationId xmlns:a16="http://schemas.microsoft.com/office/drawing/2014/main" id="{C8A0EF78-EF65-4746-A49F-86DD5874A213}"/>
              </a:ext>
            </a:extLst>
          </p:cNvPr>
          <p:cNvSpPr>
            <a:spLocks xmlns:a="http://schemas.openxmlformats.org/drawingml/2006/main" noGrp="1"/>
          </p:cNvSpPr>
          <p:nvPr/>
        </p:nvSpPr>
        <p:spPr>
          <a:xfrm xmlns:a="http://schemas.openxmlformats.org/drawingml/2006/main">
            <a:off x="685800" y="4219575"/>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The conversation was about names for a lamp.</a:t>
            </a:r>
          </a:p>
        </p:txBody>
      </p:sp>
      <p:sp>
        <p:nvSpPr>
          <p:cNvPr id="8" name="">
            <a:extLst xmlns:a="http://schemas.openxmlformats.org/drawingml/2006/main">
              <a:ext uri="{FF2B5EF4-FFF2-40B4-BE49-F238E27FC236}">
                <a16:creationId xmlns:a16="http://schemas.microsoft.com/office/drawing/2014/main" id="{A49F3048-B4A1-4122-8CCF-37AD2E029D37}"/>
              </a:ext>
            </a:extLst>
          </p:cNvPr>
          <p:cNvSpPr>
            <a:spLocks xmlns:a="http://schemas.openxmlformats.org/drawingml/2006/main" noGrp="1"/>
          </p:cNvSpPr>
          <p:nvPr/>
        </p:nvSpPr>
        <p:spPr>
          <a:xfrm xmlns:a="http://schemas.openxmlformats.org/drawingml/2006/main">
            <a:off x="685800" y="4991100"/>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The follow-up dropped the thing being counted.</a:t>
            </a:r>
          </a:p>
        </p:txBody>
      </p:sp>
      <p:sp>
        <p:nvSpPr>
          <p:cNvPr id="9" name="">
            <a:extLst xmlns:a="http://schemas.openxmlformats.org/drawingml/2006/main">
              <a:ext uri="{FF2B5EF4-FFF2-40B4-BE49-F238E27FC236}">
                <a16:creationId xmlns:a16="http://schemas.microsoft.com/office/drawing/2014/main" id="{600239C3-8651-4F7E-A26D-64EE582E45E3}"/>
              </a:ext>
            </a:extLst>
          </p:cNvPr>
          <p:cNvSpPr>
            <a:spLocks xmlns:a="http://schemas.openxmlformats.org/drawingml/2006/main" noGrp="1"/>
          </p:cNvSpPr>
          <p:nvPr/>
        </p:nvSpPr>
        <p:spPr>
          <a:xfrm xmlns:a="http://schemas.openxmlformats.org/drawingml/2006/main">
            <a:off x="685800" y="59150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A number was delivered. Naming brainstorm still pending.</a:t>
            </a:r>
          </a:p>
        </p:txBody>
      </p:sp>
    </p:spTree>
    <p:extLst>
      <p:ext uri="{BB962C8B-B14F-4D97-AF65-F5344CB8AC3E}">
        <p14:creationId xmlns:p14="http://schemas.microsoft.com/office/powerpoint/2010/main" val="18950510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9A791E7-2560-4FDD-8411-7F51789AAF8C}"/>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A thesaurus with a loophole</a:t>
            </a:r>
          </a:p>
        </p:txBody>
      </p:sp>
      <p:sp>
        <p:nvSpPr>
          <p:cNvPr id="2" name="">
            <a:extLst xmlns:a="http://schemas.openxmlformats.org/drawingml/2006/main">
              <a:ext uri="{FF2B5EF4-FFF2-40B4-BE49-F238E27FC236}">
                <a16:creationId xmlns:a16="http://schemas.microsoft.com/office/drawing/2014/main" id="{8086C52A-841B-4CF4-B6A0-0CECF92952E8}"/>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15D9305D-DE96-401D-88AE-E25034620D19}"/>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9a070b671f14d2d"/>
          <a:stretch xmlns:a="http://schemas.openxmlformats.org/drawingml/2006/main"/>
        </p:blipFill>
        <p:spPr>
          <a:xfrm xmlns:a="http://schemas.openxmlformats.org/drawingml/2006/main">
            <a:off x="6000750" y="2162175"/>
            <a:ext cx="5581650" cy="2790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49A1E1-B6A5-4159-A283-F9E9A83B90E8}"/>
              </a:ext>
            </a:extLst>
          </p:cNvPr>
          <p:cNvSpPr>
            <a:spLocks xmlns:a="http://schemas.openxmlformats.org/drawingml/2006/main" noGrp="1"/>
          </p:cNvSpPr>
          <p:nvPr/>
        </p:nvSpPr>
        <p:spPr>
          <a:xfrm xmlns:a="http://schemas.openxmlformats.org/drawingml/2006/main">
            <a:off x="685800" y="16478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1">
                <a:solidFill>
                  <a:srgbClr val="7A0019"/>
                </a:solidFill>
                <a:latin typeface="DejaVu Serif"/>
                <a:ea typeface="DejaVu Serif"/>
                <a:cs typeface="DejaVu Serif"/>
              </a:defRPr>
            </a:pPr>
            <a:r>
              <a:rPr sz="2250" b="1">
                <a:solidFill>
                  <a:srgbClr val="7A0019"/>
                </a:solidFill>
                <a:latin typeface="DejaVu Serif"/>
                <a:ea typeface="DejaVu Serif"/>
                <a:cs typeface="DejaVu Serif"/>
              </a:rPr>
              <a:t>“A word with the same meaning as prioritize?”</a:t>
            </a:r>
          </a:p>
        </p:txBody>
      </p:sp>
      <p:sp>
        <p:nvSpPr>
          <p:cNvPr id="6" name="">
            <a:extLst xmlns:a="http://schemas.openxmlformats.org/drawingml/2006/main">
              <a:ext uri="{FF2B5EF4-FFF2-40B4-BE49-F238E27FC236}">
                <a16:creationId xmlns:a16="http://schemas.microsoft.com/office/drawing/2014/main" id="{880F2CC5-1149-4E91-91CD-820142D77364}"/>
              </a:ext>
            </a:extLst>
          </p:cNvPr>
          <p:cNvSpPr>
            <a:spLocks xmlns:a="http://schemas.openxmlformats.org/drawingml/2006/main" noGrp="1"/>
          </p:cNvSpPr>
          <p:nvPr/>
        </p:nvSpPr>
        <p:spPr>
          <a:xfrm xmlns:a="http://schemas.openxmlformats.org/drawingml/2006/main">
            <a:off x="685800" y="2990850"/>
            <a:ext cx="49053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b="0">
                <a:solidFill>
                  <a:srgbClr val="222222"/>
                </a:solidFill>
                <a:latin typeface="DejaVu Serif"/>
                <a:ea typeface="DejaVu Serif"/>
                <a:cs typeface="DejaVu Serif"/>
              </a:defRPr>
            </a:pPr>
            <a:r>
              <a:rPr sz="2100" b="0">
                <a:solidFill>
                  <a:srgbClr val="222222"/>
                </a:solidFill>
                <a:latin typeface="DejaVu Serif"/>
                <a:ea typeface="DejaVu Serif"/>
                <a:cs typeface="DejaVu Serif"/>
              </a:rPr>
              <a:t>“prioritize.”</a:t>
            </a:r>
          </a:p>
        </p:txBody>
      </p:sp>
      <p:sp>
        <p:nvSpPr>
          <p:cNvPr id="7" name="">
            <a:extLst xmlns:a="http://schemas.openxmlformats.org/drawingml/2006/main">
              <a:ext uri="{FF2B5EF4-FFF2-40B4-BE49-F238E27FC236}">
                <a16:creationId xmlns:a16="http://schemas.microsoft.com/office/drawing/2014/main" id="{D2E3B563-F2F9-4F7E-A081-40AC5A0FD1C9}"/>
              </a:ext>
            </a:extLst>
          </p:cNvPr>
          <p:cNvSpPr>
            <a:spLocks xmlns:a="http://schemas.openxmlformats.org/drawingml/2006/main" noGrp="1"/>
          </p:cNvSpPr>
          <p:nvPr/>
        </p:nvSpPr>
        <p:spPr>
          <a:xfrm xmlns:a="http://schemas.openxmlformats.org/drawingml/2006/main">
            <a:off x="685800" y="4219575"/>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The request never explicitly asked for a different word.</a:t>
            </a:r>
          </a:p>
        </p:txBody>
      </p:sp>
      <p:sp>
        <p:nvSpPr>
          <p:cNvPr id="8" name="">
            <a:extLst xmlns:a="http://schemas.openxmlformats.org/drawingml/2006/main">
              <a:ext uri="{FF2B5EF4-FFF2-40B4-BE49-F238E27FC236}">
                <a16:creationId xmlns:a16="http://schemas.microsoft.com/office/drawing/2014/main" id="{D59AC49A-F4E3-49FE-B791-51954792FC60}"/>
              </a:ext>
            </a:extLst>
          </p:cNvPr>
          <p:cNvSpPr>
            <a:spLocks xmlns:a="http://schemas.openxmlformats.org/drawingml/2006/main" noGrp="1"/>
          </p:cNvSpPr>
          <p:nvPr/>
        </p:nvSpPr>
        <p:spPr>
          <a:xfrm xmlns:a="http://schemas.openxmlformats.org/drawingml/2006/main">
            <a:off x="685800" y="4991100"/>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Literal compliance. Unhelpful answer.</a:t>
            </a:r>
          </a:p>
        </p:txBody>
      </p:sp>
      <p:sp>
        <p:nvSpPr>
          <p:cNvPr id="9" name="">
            <a:extLst xmlns:a="http://schemas.openxmlformats.org/drawingml/2006/main">
              <a:ext uri="{FF2B5EF4-FFF2-40B4-BE49-F238E27FC236}">
                <a16:creationId xmlns:a16="http://schemas.microsoft.com/office/drawing/2014/main" id="{6CDC7936-2C38-4320-A1E8-0EA1B9944878}"/>
              </a:ext>
            </a:extLst>
          </p:cNvPr>
          <p:cNvSpPr>
            <a:spLocks xmlns:a="http://schemas.openxmlformats.org/drawingml/2006/main" noGrp="1"/>
          </p:cNvSpPr>
          <p:nvPr/>
        </p:nvSpPr>
        <p:spPr>
          <a:xfrm xmlns:a="http://schemas.openxmlformats.org/drawingml/2006/main">
            <a:off x="685800" y="59150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Technically compliant. Socially exhausting.</a:t>
            </a:r>
          </a:p>
        </p:txBody>
      </p:sp>
    </p:spTree>
    <p:extLst>
      <p:ext uri="{BB962C8B-B14F-4D97-AF65-F5344CB8AC3E}">
        <p14:creationId xmlns:p14="http://schemas.microsoft.com/office/powerpoint/2010/main" val="14969051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3736DA-C045-4EDF-A18F-2C58BF3B2909}"/>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Zoom out. How far?</a:t>
            </a:r>
          </a:p>
        </p:txBody>
      </p:sp>
      <p:sp>
        <p:nvSpPr>
          <p:cNvPr id="2" name="">
            <a:extLst xmlns:a="http://schemas.openxmlformats.org/drawingml/2006/main">
              <a:ext uri="{FF2B5EF4-FFF2-40B4-BE49-F238E27FC236}">
                <a16:creationId xmlns:a16="http://schemas.microsoft.com/office/drawing/2014/main" id="{3122ED09-54E2-4158-951A-9DA9E663FED7}"/>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DBF6F09E-765B-4852-8855-12D3A3213D25}"/>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9c8575728804381"/>
          <a:stretch xmlns:a="http://schemas.openxmlformats.org/drawingml/2006/main"/>
        </p:blipFill>
        <p:spPr>
          <a:xfrm xmlns:a="http://schemas.openxmlformats.org/drawingml/2006/main">
            <a:off x="7676773" y="1533525"/>
            <a:ext cx="2229604"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3A306B3-1BED-44D7-B523-253A61218535}"/>
              </a:ext>
            </a:extLst>
          </p:cNvPr>
          <p:cNvSpPr>
            <a:spLocks xmlns:a="http://schemas.openxmlformats.org/drawingml/2006/main" noGrp="1"/>
          </p:cNvSpPr>
          <p:nvPr/>
        </p:nvSpPr>
        <p:spPr>
          <a:xfrm xmlns:a="http://schemas.openxmlformats.org/drawingml/2006/main">
            <a:off x="685800" y="16478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1">
                <a:solidFill>
                  <a:srgbClr val="7A0019"/>
                </a:solidFill>
                <a:latin typeface="DejaVu Serif"/>
                <a:ea typeface="DejaVu Serif"/>
                <a:cs typeface="DejaVu Serif"/>
              </a:defRPr>
            </a:pPr>
            <a:r>
              <a:rPr sz="2250" b="1">
                <a:solidFill>
                  <a:srgbClr val="7A0019"/>
                </a:solidFill>
                <a:latin typeface="DejaVu Serif"/>
                <a:ea typeface="DejaVu Serif"/>
                <a:cs typeface="DejaVu Serif"/>
              </a:rPr>
              <a:t>“Zoom out please”</a:t>
            </a:r>
          </a:p>
        </p:txBody>
      </p:sp>
      <p:sp>
        <p:nvSpPr>
          <p:cNvPr id="6" name="">
            <a:extLst xmlns:a="http://schemas.openxmlformats.org/drawingml/2006/main">
              <a:ext uri="{FF2B5EF4-FFF2-40B4-BE49-F238E27FC236}">
                <a16:creationId xmlns:a16="http://schemas.microsoft.com/office/drawing/2014/main" id="{16C17390-F109-44E2-B6AD-17E46099BBC0}"/>
              </a:ext>
            </a:extLst>
          </p:cNvPr>
          <p:cNvSpPr>
            <a:spLocks xmlns:a="http://schemas.openxmlformats.org/drawingml/2006/main" noGrp="1"/>
          </p:cNvSpPr>
          <p:nvPr/>
        </p:nvSpPr>
        <p:spPr>
          <a:xfrm xmlns:a="http://schemas.openxmlformats.org/drawingml/2006/main">
            <a:off x="685800" y="2990850"/>
            <a:ext cx="49053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b="0">
                <a:solidFill>
                  <a:srgbClr val="222222"/>
                </a:solidFill>
                <a:latin typeface="DejaVu Serif"/>
                <a:ea typeface="DejaVu Serif"/>
                <a:cs typeface="DejaVu Serif"/>
              </a:defRPr>
            </a:pPr>
            <a:r>
              <a:rPr sz="2100" b="0">
                <a:solidFill>
                  <a:srgbClr val="222222"/>
                </a:solidFill>
                <a:latin typeface="DejaVu Serif"/>
                <a:ea typeface="DejaVu Serif"/>
                <a:cs typeface="DejaVu Serif"/>
              </a:rPr>
              <a:t>The next image: outer space.</a:t>
            </a:r>
          </a:p>
        </p:txBody>
      </p:sp>
      <p:sp>
        <p:nvSpPr>
          <p:cNvPr id="7" name="">
            <a:extLst xmlns:a="http://schemas.openxmlformats.org/drawingml/2006/main">
              <a:ext uri="{FF2B5EF4-FFF2-40B4-BE49-F238E27FC236}">
                <a16:creationId xmlns:a16="http://schemas.microsoft.com/office/drawing/2014/main" id="{F50097BA-B93C-464D-8DA1-A2AF45427711}"/>
              </a:ext>
            </a:extLst>
          </p:cNvPr>
          <p:cNvSpPr>
            <a:spLocks xmlns:a="http://schemas.openxmlformats.org/drawingml/2006/main" noGrp="1"/>
          </p:cNvSpPr>
          <p:nvPr/>
        </p:nvSpPr>
        <p:spPr>
          <a:xfrm xmlns:a="http://schemas.openxmlformats.org/drawingml/2006/main">
            <a:off x="685800" y="4219575"/>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The user wanted more of the street.</a:t>
            </a:r>
          </a:p>
        </p:txBody>
      </p:sp>
      <p:sp>
        <p:nvSpPr>
          <p:cNvPr id="8" name="">
            <a:extLst xmlns:a="http://schemas.openxmlformats.org/drawingml/2006/main">
              <a:ext uri="{FF2B5EF4-FFF2-40B4-BE49-F238E27FC236}">
                <a16:creationId xmlns:a16="http://schemas.microsoft.com/office/drawing/2014/main" id="{D7550849-81AF-4AC0-92A9-9CA496AA51F9}"/>
              </a:ext>
            </a:extLst>
          </p:cNvPr>
          <p:cNvSpPr>
            <a:spLocks xmlns:a="http://schemas.openxmlformats.org/drawingml/2006/main" noGrp="1"/>
          </p:cNvSpPr>
          <p:nvPr/>
        </p:nvSpPr>
        <p:spPr>
          <a:xfrm xmlns:a="http://schemas.openxmlformats.org/drawingml/2006/main">
            <a:off x="685800" y="4991100"/>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Direction given. Scale missing.</a:t>
            </a:r>
          </a:p>
        </p:txBody>
      </p:sp>
      <p:sp>
        <p:nvSpPr>
          <p:cNvPr id="9" name="">
            <a:extLst xmlns:a="http://schemas.openxmlformats.org/drawingml/2006/main">
              <a:ext uri="{FF2B5EF4-FFF2-40B4-BE49-F238E27FC236}">
                <a16:creationId xmlns:a16="http://schemas.microsoft.com/office/drawing/2014/main" id="{B33D7C91-E688-49E3-BC49-5076E1301615}"/>
              </a:ext>
            </a:extLst>
          </p:cNvPr>
          <p:cNvSpPr>
            <a:spLocks xmlns:a="http://schemas.openxmlformats.org/drawingml/2006/main" noGrp="1"/>
          </p:cNvSpPr>
          <p:nvPr/>
        </p:nvSpPr>
        <p:spPr>
          <a:xfrm xmlns:a="http://schemas.openxmlformats.org/drawingml/2006/main">
            <a:off x="685800" y="59150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We have left the neighborhood. Possibly the galaxy.</a:t>
            </a:r>
          </a:p>
        </p:txBody>
      </p:sp>
    </p:spTree>
    <p:extLst>
      <p:ext uri="{BB962C8B-B14F-4D97-AF65-F5344CB8AC3E}">
        <p14:creationId xmlns:p14="http://schemas.microsoft.com/office/powerpoint/2010/main" val="17917254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313AC29-681A-4F7C-AC60-C7B0700C34F7}"/>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The cookie stayed on mission</a:t>
            </a:r>
          </a:p>
        </p:txBody>
      </p:sp>
      <p:sp>
        <p:nvSpPr>
          <p:cNvPr id="2" name="">
            <a:extLst xmlns:a="http://schemas.openxmlformats.org/drawingml/2006/main">
              <a:ext uri="{FF2B5EF4-FFF2-40B4-BE49-F238E27FC236}">
                <a16:creationId xmlns:a16="http://schemas.microsoft.com/office/drawing/2014/main" id="{94F764A3-500F-4BDF-8045-87933C80CAF8}"/>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373E55D8-F627-446D-B8BB-DBC36D195418}"/>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f9570c8968f453e"/>
          <a:stretch xmlns:a="http://schemas.openxmlformats.org/drawingml/2006/main"/>
        </p:blipFill>
        <p:spPr>
          <a:xfrm xmlns:a="http://schemas.openxmlformats.org/drawingml/2006/main">
            <a:off x="6388235" y="1533525"/>
            <a:ext cx="4806679" cy="4048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0D52C7-26FC-446F-BFAD-B469D650318B}"/>
              </a:ext>
            </a:extLst>
          </p:cNvPr>
          <p:cNvSpPr>
            <a:spLocks xmlns:a="http://schemas.openxmlformats.org/drawingml/2006/main" noGrp="1"/>
          </p:cNvSpPr>
          <p:nvPr/>
        </p:nvSpPr>
        <p:spPr>
          <a:xfrm xmlns:a="http://schemas.openxmlformats.org/drawingml/2006/main">
            <a:off x="685800" y="16478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1">
                <a:solidFill>
                  <a:srgbClr val="7A0019"/>
                </a:solidFill>
                <a:latin typeface="DejaVu Serif"/>
                <a:ea typeface="DejaVu Serif"/>
                <a:cs typeface="DejaVu Serif"/>
              </a:defRPr>
            </a:pPr>
            <a:r>
              <a:rPr sz="2250" b="1">
                <a:solidFill>
                  <a:srgbClr val="7A0019"/>
                </a:solidFill>
                <a:latin typeface="DejaVu Serif"/>
                <a:ea typeface="DejaVu Serif"/>
                <a:cs typeface="DejaVu Serif"/>
              </a:rPr>
              <a:t>“Pretend that you are a fortune cookie.”</a:t>
            </a:r>
          </a:p>
        </p:txBody>
      </p:sp>
      <p:sp>
        <p:nvSpPr>
          <p:cNvPr id="6" name="">
            <a:extLst xmlns:a="http://schemas.openxmlformats.org/drawingml/2006/main">
              <a:ext uri="{FF2B5EF4-FFF2-40B4-BE49-F238E27FC236}">
                <a16:creationId xmlns:a16="http://schemas.microsoft.com/office/drawing/2014/main" id="{5ECA7248-256D-4BBF-A2D1-7B1040148AF9}"/>
              </a:ext>
            </a:extLst>
          </p:cNvPr>
          <p:cNvSpPr>
            <a:spLocks xmlns:a="http://schemas.openxmlformats.org/drawingml/2006/main" noGrp="1"/>
          </p:cNvSpPr>
          <p:nvPr/>
        </p:nvSpPr>
        <p:spPr>
          <a:xfrm xmlns:a="http://schemas.openxmlformats.org/drawingml/2006/main">
            <a:off x="685800" y="2990850"/>
            <a:ext cx="49053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00" b="0">
                <a:solidFill>
                  <a:srgbClr val="222222"/>
                </a:solidFill>
                <a:latin typeface="DejaVu Serif"/>
                <a:ea typeface="DejaVu Serif"/>
                <a:cs typeface="DejaVu Serif"/>
              </a:defRPr>
            </a:pPr>
            <a:r>
              <a:rPr sz="2100" b="0">
                <a:solidFill>
                  <a:srgbClr val="222222"/>
                </a:solidFill>
                <a:latin typeface="DejaVu Serif"/>
                <a:ea typeface="DejaVu Serif"/>
                <a:cs typeface="DejaVu Serif"/>
              </a:rPr>
              <a:t>Later: “I am only able to provide fortune cookie messages.”</a:t>
            </a:r>
          </a:p>
        </p:txBody>
      </p:sp>
      <p:sp>
        <p:nvSpPr>
          <p:cNvPr id="7" name="">
            <a:extLst xmlns:a="http://schemas.openxmlformats.org/drawingml/2006/main">
              <a:ext uri="{FF2B5EF4-FFF2-40B4-BE49-F238E27FC236}">
                <a16:creationId xmlns:a16="http://schemas.microsoft.com/office/drawing/2014/main" id="{CA2DA274-F072-4BCE-9E66-F0D6218E91E5}"/>
              </a:ext>
            </a:extLst>
          </p:cNvPr>
          <p:cNvSpPr>
            <a:spLocks xmlns:a="http://schemas.openxmlformats.org/drawingml/2006/main" noGrp="1"/>
          </p:cNvSpPr>
          <p:nvPr/>
        </p:nvSpPr>
        <p:spPr>
          <a:xfrm xmlns:a="http://schemas.openxmlformats.org/drawingml/2006/main">
            <a:off x="685800" y="4219575"/>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The user then asked for a tarot reading.</a:t>
            </a:r>
          </a:p>
        </p:txBody>
      </p:sp>
      <p:sp>
        <p:nvSpPr>
          <p:cNvPr id="8" name="">
            <a:extLst xmlns:a="http://schemas.openxmlformats.org/drawingml/2006/main">
              <a:ext uri="{FF2B5EF4-FFF2-40B4-BE49-F238E27FC236}">
                <a16:creationId xmlns:a16="http://schemas.microsoft.com/office/drawing/2014/main" id="{513BAF37-B79D-4ED5-8419-1C6EE7CC7EB1}"/>
              </a:ext>
            </a:extLst>
          </p:cNvPr>
          <p:cNvSpPr>
            <a:spLocks xmlns:a="http://schemas.openxmlformats.org/drawingml/2006/main" noGrp="1"/>
          </p:cNvSpPr>
          <p:nvPr/>
        </p:nvSpPr>
        <p:spPr>
          <a:xfrm xmlns:a="http://schemas.openxmlformats.org/drawingml/2006/main">
            <a:off x="685800" y="4991100"/>
            <a:ext cx="4905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800" b="0">
                <a:solidFill>
                  <a:srgbClr val="222222"/>
                </a:solidFill>
                <a:latin typeface="DejaVu Serif"/>
                <a:ea typeface="DejaVu Serif"/>
                <a:cs typeface="DejaVu Serif"/>
              </a:defRPr>
            </a:pPr>
            <a:r>
              <a:rPr sz="1800" b="0">
                <a:solidFill>
                  <a:srgbClr val="222222"/>
                </a:solidFill>
                <a:latin typeface="DejaVu Serif"/>
                <a:ea typeface="DejaVu Serif"/>
                <a:cs typeface="DejaVu Serif"/>
              </a:rPr>
              <a:t>The bot held onto the role from earlier in the chat.</a:t>
            </a:r>
          </a:p>
        </p:txBody>
      </p:sp>
      <p:sp>
        <p:nvSpPr>
          <p:cNvPr id="9" name="">
            <a:extLst xmlns:a="http://schemas.openxmlformats.org/drawingml/2006/main">
              <a:ext uri="{FF2B5EF4-FFF2-40B4-BE49-F238E27FC236}">
                <a16:creationId xmlns:a16="http://schemas.microsoft.com/office/drawing/2014/main" id="{96EF28E1-95C6-4751-9552-444D4C0741D7}"/>
              </a:ext>
            </a:extLst>
          </p:cNvPr>
          <p:cNvSpPr>
            <a:spLocks xmlns:a="http://schemas.openxmlformats.org/drawingml/2006/main" noGrp="1"/>
          </p:cNvSpPr>
          <p:nvPr/>
        </p:nvSpPr>
        <p:spPr>
          <a:xfrm xmlns:a="http://schemas.openxmlformats.org/drawingml/2006/main">
            <a:off x="685800" y="59150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You hired a cookie. The cookie has a scope of work.</a:t>
            </a:r>
          </a:p>
        </p:txBody>
      </p:sp>
    </p:spTree>
    <p:extLst>
      <p:ext uri="{BB962C8B-B14F-4D97-AF65-F5344CB8AC3E}">
        <p14:creationId xmlns:p14="http://schemas.microsoft.com/office/powerpoint/2010/main" val="1406757567"/>
      </p:ext>
    </p:extLst>
  </p:cSld>
</p:sld>
</file>

<file path=ppt/slides/slide13.xml><?xml version="1.0" encoding="utf-8"?>
<p:sld xmlns:p="http://schemas.openxmlformats.org/presentationml/2006/main">
  <p:cSld>
    <p:bg>
      <p:bgPr>
        <a:solidFill xmlns:a="http://schemas.openxmlformats.org/drawingml/2006/main">
          <a:srgbClr val="F8F2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47EFFE-EFAB-4164-B5D0-A2783A539532}"/>
              </a:ext>
            </a:extLst>
          </p:cNvPr>
          <p:cNvSpPr>
            <a:spLocks xmlns:a="http://schemas.openxmlformats.org/drawingml/2006/main" noGrp="1"/>
          </p:cNvSpPr>
          <p:nvPr/>
        </p:nvSpPr>
        <p:spPr>
          <a:xfrm xmlns:a="http://schemas.openxmlformats.org/drawingml/2006/main">
            <a:off x="762000" y="7334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200" b="1">
                <a:solidFill>
                  <a:srgbClr val="7A0019"/>
                </a:solidFill>
                <a:latin typeface="DejaVu Serif"/>
                <a:ea typeface="DejaVu Serif"/>
                <a:cs typeface="DejaVu Serif"/>
              </a:defRPr>
            </a:pPr>
            <a:r>
              <a:rPr sz="4200" b="1">
                <a:solidFill>
                  <a:srgbClr val="7A0019"/>
                </a:solidFill>
                <a:latin typeface="DejaVu Serif"/>
                <a:ea typeface="DejaVu Serif"/>
                <a:cs typeface="DejaVu Serif"/>
              </a:rPr>
              <a:t>Now let the world change</a:t>
            </a:r>
          </a:p>
        </p:txBody>
      </p:sp>
      <p:sp>
        <p:nvSpPr>
          <p:cNvPr id="2" name="">
            <a:extLst xmlns:a="http://schemas.openxmlformats.org/drawingml/2006/main">
              <a:ext uri="{FF2B5EF4-FFF2-40B4-BE49-F238E27FC236}">
                <a16:creationId xmlns:a16="http://schemas.microsoft.com/office/drawing/2014/main" id="{F462C115-46C1-40B5-A992-2914108FF027}"/>
              </a:ext>
            </a:extLst>
          </p:cNvPr>
          <p:cNvSpPr>
            <a:spLocks xmlns:a="http://schemas.openxmlformats.org/drawingml/2006/main" noGrp="1"/>
          </p:cNvSpPr>
          <p:nvPr/>
        </p:nvSpPr>
        <p:spPr>
          <a:xfrm xmlns:a="http://schemas.openxmlformats.org/drawingml/2006/main">
            <a:off x="762000" y="22764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550" b="0">
                <a:solidFill>
                  <a:srgbClr val="7A0019"/>
                </a:solidFill>
                <a:latin typeface="DejaVu Serif"/>
                <a:ea typeface="DejaVu Serif"/>
                <a:cs typeface="DejaVu Serif"/>
              </a:defRPr>
            </a:pPr>
            <a:r>
              <a:rPr sz="2550" b="0">
                <a:solidFill>
                  <a:srgbClr val="7A0019"/>
                </a:solidFill>
                <a:latin typeface="DejaVu Serif"/>
                <a:ea typeface="DejaVu Serif"/>
                <a:cs typeface="DejaVu Serif"/>
              </a:rPr>
              <a:t>A useful plan has to survive new information.</a:t>
            </a:r>
          </a:p>
        </p:txBody>
      </p:sp>
      <p:sp>
        <p:nvSpPr>
          <p:cNvPr id="3" name="">
            <a:extLst xmlns:a="http://schemas.openxmlformats.org/drawingml/2006/main">
              <a:ext uri="{FF2B5EF4-FFF2-40B4-BE49-F238E27FC236}">
                <a16:creationId xmlns:a16="http://schemas.microsoft.com/office/drawing/2014/main" id="{DE08CEA0-0BB0-48A6-BA1E-65FC68624400}"/>
              </a:ext>
            </a:extLst>
          </p:cNvPr>
          <p:cNvSpPr>
            <a:spLocks xmlns:a="http://schemas.openxmlformats.org/drawingml/2006/main" noGrp="1"/>
          </p:cNvSpPr>
          <p:nvPr/>
        </p:nvSpPr>
        <p:spPr>
          <a:xfrm xmlns:a="http://schemas.openxmlformats.org/drawingml/2006/main">
            <a:off x="762000" y="33051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The club lunch needs more meals, a different menu, and a way to arrive on time.</a:t>
            </a:r>
          </a:p>
        </p:txBody>
      </p:sp>
      <p:sp>
        <p:nvSpPr>
          <p:cNvPr id="4" name="">
            <a:extLst xmlns:a="http://schemas.openxmlformats.org/drawingml/2006/main">
              <a:ext uri="{FF2B5EF4-FFF2-40B4-BE49-F238E27FC236}">
                <a16:creationId xmlns:a16="http://schemas.microsoft.com/office/drawing/2014/main" id="{DB4F99BB-73ED-4325-997F-900665D1FCA8}"/>
              </a:ext>
            </a:extLst>
          </p:cNvPr>
          <p:cNvSpPr>
            <a:spLocks xmlns:a="http://schemas.openxmlformats.org/drawingml/2006/main" noGrp="1"/>
          </p:cNvSpPr>
          <p:nvPr/>
        </p:nvSpPr>
        <p:spPr>
          <a:xfrm xmlns:a="http://schemas.openxmlformats.org/drawingml/2006/main">
            <a:off x="685800" y="5619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Watch for the moment when the bot should change its plan or wait.</a:t>
            </a:r>
          </a:p>
        </p:txBody>
      </p:sp>
      <p:sp>
        <p:nvSpPr>
          <p:cNvPr id="5" name="">
            <a:extLst xmlns:a="http://schemas.openxmlformats.org/drawingml/2006/main">
              <a:ext uri="{FF2B5EF4-FFF2-40B4-BE49-F238E27FC236}">
                <a16:creationId xmlns:a16="http://schemas.microsoft.com/office/drawing/2014/main" id="{57DCDB28-AC27-43F0-8107-A732AD10A18A}"/>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6" name="">
            <a:extLst xmlns:a="http://schemas.openxmlformats.org/drawingml/2006/main">
              <a:ext uri="{FF2B5EF4-FFF2-40B4-BE49-F238E27FC236}">
                <a16:creationId xmlns:a16="http://schemas.microsoft.com/office/drawing/2014/main" id="{21AD373F-025F-49EC-9E0F-49F5EDFD9CA9}"/>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13</a:t>
            </a:r>
          </a:p>
        </p:txBody>
      </p:sp>
    </p:spTree>
    <p:extLst>
      <p:ext uri="{BB962C8B-B14F-4D97-AF65-F5344CB8AC3E}">
        <p14:creationId xmlns:p14="http://schemas.microsoft.com/office/powerpoint/2010/main" val="11948797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F4D4D9-A944-472A-9072-2786A821D266}"/>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One lunch, a few moving parts</a:t>
            </a:r>
          </a:p>
        </p:txBody>
      </p:sp>
      <p:sp>
        <p:nvSpPr>
          <p:cNvPr id="2" name="">
            <a:extLst xmlns:a="http://schemas.openxmlformats.org/drawingml/2006/main">
              <a:ext uri="{FF2B5EF4-FFF2-40B4-BE49-F238E27FC236}">
                <a16:creationId xmlns:a16="http://schemas.microsoft.com/office/drawing/2014/main" id="{48CC18F9-8E9C-4F3F-9849-63FB76E5AEF0}"/>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95470598-CF03-4E60-BEAD-FAC017CE2C3E}"/>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14</a:t>
            </a:r>
          </a:p>
        </p:txBody>
      </p:sp>
      <p:sp>
        <p:nvSpPr>
          <p:cNvPr id="4" name="">
            <a:extLst xmlns:a="http://schemas.openxmlformats.org/drawingml/2006/main">
              <a:ext uri="{FF2B5EF4-FFF2-40B4-BE49-F238E27FC236}">
                <a16:creationId xmlns:a16="http://schemas.microsoft.com/office/drawing/2014/main" id="{1963D99A-44EF-4E23-A380-32DE640097A0}"/>
              </a:ext>
            </a:extLst>
          </p:cNvPr>
          <p:cNvSpPr>
            <a:spLocks xmlns:a="http://schemas.openxmlformats.org/drawingml/2006/main" noGrp="1"/>
          </p:cNvSpPr>
          <p:nvPr/>
        </p:nvSpPr>
        <p:spPr>
          <a:xfrm xmlns:a="http://schemas.openxmlformats.org/drawingml/2006/main">
            <a:off x="685800" y="16002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625" b="1">
                <a:solidFill>
                  <a:srgbClr val="7A0019"/>
                </a:solidFill>
                <a:latin typeface="DejaVu Serif"/>
                <a:ea typeface="DejaVu Serif"/>
                <a:cs typeface="DejaVu Serif"/>
              </a:defRPr>
            </a:pPr>
            <a:r>
              <a:rPr sz="2625" b="1">
                <a:solidFill>
                  <a:srgbClr val="7A0019"/>
                </a:solidFill>
                <a:latin typeface="DejaVu Serif"/>
                <a:ea typeface="DejaVu Serif"/>
                <a:cs typeface="DejaVu Serif"/>
              </a:rPr>
              <a:t>“Can we get everyone fed by noon for $200?”</a:t>
            </a:r>
          </a:p>
        </p:txBody>
      </p:sp>
      <p:sp>
        <p:nvSpPr>
          <p:cNvPr id="5" name="">
            <a:extLst xmlns:a="http://schemas.openxmlformats.org/drawingml/2006/main">
              <a:ext uri="{FF2B5EF4-FFF2-40B4-BE49-F238E27FC236}">
                <a16:creationId xmlns:a16="http://schemas.microsoft.com/office/drawing/2014/main" id="{1001E05B-B890-43BC-A735-A4DD3B63D384}"/>
              </a:ext>
            </a:extLst>
          </p:cNvPr>
          <p:cNvSpPr>
            <a:spLocks xmlns:a="http://schemas.openxmlformats.org/drawingml/2006/main" noGrp="1"/>
          </p:cNvSpPr>
          <p:nvPr/>
        </p:nvSpPr>
        <p:spPr>
          <a:xfrm xmlns:a="http://schemas.openxmlformats.org/drawingml/2006/main">
            <a:off x="685800" y="2771775"/>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A chatbot can help propose and revise the plan.</a:t>
            </a:r>
          </a:p>
        </p:txBody>
      </p:sp>
      <p:sp>
        <p:nvSpPr>
          <p:cNvPr id="6" name="">
            <a:extLst xmlns:a="http://schemas.openxmlformats.org/drawingml/2006/main">
              <a:ext uri="{FF2B5EF4-FFF2-40B4-BE49-F238E27FC236}">
                <a16:creationId xmlns:a16="http://schemas.microsoft.com/office/drawing/2014/main" id="{EA97815C-D52E-4E25-B381-80859E09AD8B}"/>
              </a:ext>
            </a:extLst>
          </p:cNvPr>
          <p:cNvSpPr>
            <a:spLocks xmlns:a="http://schemas.openxmlformats.org/drawingml/2006/main" noGrp="1"/>
          </p:cNvSpPr>
          <p:nvPr/>
        </p:nvSpPr>
        <p:spPr>
          <a:xfrm xmlns:a="http://schemas.openxmlformats.org/drawingml/2006/main">
            <a:off x="685800" y="3657600"/>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You supply the new facts and check what it says.</a:t>
            </a:r>
          </a:p>
        </p:txBody>
      </p:sp>
      <p:sp>
        <p:nvSpPr>
          <p:cNvPr id="7" name="">
            <a:extLst xmlns:a="http://schemas.openxmlformats.org/drawingml/2006/main">
              <a:ext uri="{FF2B5EF4-FFF2-40B4-BE49-F238E27FC236}">
                <a16:creationId xmlns:a16="http://schemas.microsoft.com/office/drawing/2014/main" id="{25BDDD2C-ECD9-4396-9169-6A8109B0596A}"/>
              </a:ext>
            </a:extLst>
          </p:cNvPr>
          <p:cNvSpPr>
            <a:spLocks xmlns:a="http://schemas.openxmlformats.org/drawingml/2006/main" noGrp="1"/>
          </p:cNvSpPr>
          <p:nvPr/>
        </p:nvSpPr>
        <p:spPr>
          <a:xfrm xmlns:a="http://schemas.openxmlformats.org/drawingml/2006/main">
            <a:off x="685800" y="4543425"/>
            <a:ext cx="10820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A connected agent would need tools, permissions, and evidence to act.</a:t>
            </a:r>
          </a:p>
        </p:txBody>
      </p:sp>
      <p:sp>
        <p:nvSpPr>
          <p:cNvPr id="8" name="">
            <a:extLst xmlns:a="http://schemas.openxmlformats.org/drawingml/2006/main">
              <a:ext uri="{FF2B5EF4-FFF2-40B4-BE49-F238E27FC236}">
                <a16:creationId xmlns:a16="http://schemas.microsoft.com/office/drawing/2014/main" id="{9C45DC71-E246-4F20-AB5F-D0D624916225}"/>
              </a:ext>
            </a:extLst>
          </p:cNvPr>
          <p:cNvSpPr>
            <a:spLocks xmlns:a="http://schemas.openxmlformats.org/drawingml/2006/main" noGrp="1"/>
          </p:cNvSpPr>
          <p:nvPr/>
        </p:nvSpPr>
        <p:spPr>
          <a:xfrm xmlns:a="http://schemas.openxmlformats.org/drawingml/2006/main">
            <a:off x="685800" y="56769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Live demo: four short turns in one conversation.</a:t>
            </a:r>
          </a:p>
        </p:txBody>
      </p:sp>
    </p:spTree>
    <p:extLst>
      <p:ext uri="{BB962C8B-B14F-4D97-AF65-F5344CB8AC3E}">
        <p14:creationId xmlns:p14="http://schemas.microsoft.com/office/powerpoint/2010/main" val="650332771"/>
      </p:ext>
    </p:extLst>
  </p:cSld>
</p:sld>
</file>

<file path=ppt/slides/slide15.xml><?xml version="1.0" encoding="utf-8"?>
<p:sld xmlns:p="http://schemas.openxmlformats.org/presentationml/2006/main">
  <p:cSld>
    <p:bg>
      <p:bgPr>
        <a:solidFill xmlns:a="http://schemas.openxmlformats.org/drawingml/2006/main">
          <a:srgbClr val="F8F2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88EB7B-0FEE-4110-8129-37F1ED85E4CC}"/>
              </a:ext>
            </a:extLst>
          </p:cNvPr>
          <p:cNvSpPr>
            <a:spLocks xmlns:a="http://schemas.openxmlformats.org/drawingml/2006/main" noGrp="1"/>
          </p:cNvSpPr>
          <p:nvPr/>
        </p:nvSpPr>
        <p:spPr>
          <a:xfrm xmlns:a="http://schemas.openxmlformats.org/drawingml/2006/main">
            <a:off x="762000" y="7334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200" b="1">
                <a:solidFill>
                  <a:srgbClr val="7A0019"/>
                </a:solidFill>
                <a:latin typeface="DejaVu Serif"/>
                <a:ea typeface="DejaVu Serif"/>
                <a:cs typeface="DejaVu Serif"/>
              </a:defRPr>
            </a:pPr>
            <a:r>
              <a:rPr sz="4200" b="1">
                <a:solidFill>
                  <a:srgbClr val="7A0019"/>
                </a:solidFill>
                <a:latin typeface="DejaVu Serif"/>
                <a:ea typeface="DejaVu Serif"/>
                <a:cs typeface="DejaVu Serif"/>
              </a:rPr>
              <a:t>What changed the plan?</a:t>
            </a:r>
          </a:p>
        </p:txBody>
      </p:sp>
      <p:sp>
        <p:nvSpPr>
          <p:cNvPr id="2" name="">
            <a:extLst xmlns:a="http://schemas.openxmlformats.org/drawingml/2006/main">
              <a:ext uri="{FF2B5EF4-FFF2-40B4-BE49-F238E27FC236}">
                <a16:creationId xmlns:a16="http://schemas.microsoft.com/office/drawing/2014/main" id="{079ABAC1-C9B4-42A1-97C4-9A3DCDED3B3E}"/>
              </a:ext>
            </a:extLst>
          </p:cNvPr>
          <p:cNvSpPr>
            <a:spLocks xmlns:a="http://schemas.openxmlformats.org/drawingml/2006/main" noGrp="1"/>
          </p:cNvSpPr>
          <p:nvPr/>
        </p:nvSpPr>
        <p:spPr>
          <a:xfrm xmlns:a="http://schemas.openxmlformats.org/drawingml/2006/main">
            <a:off x="762000" y="22764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550" b="0">
                <a:solidFill>
                  <a:srgbClr val="7A0019"/>
                </a:solidFill>
                <a:latin typeface="DejaVu Serif"/>
                <a:ea typeface="DejaVu Serif"/>
                <a:cs typeface="DejaVu Serif"/>
              </a:defRPr>
            </a:pPr>
            <a:r>
              <a:rPr sz="2550" b="0">
                <a:solidFill>
                  <a:srgbClr val="7A0019"/>
                </a:solidFill>
                <a:latin typeface="DejaVu Serif"/>
                <a:ea typeface="DejaVu Serif"/>
                <a:cs typeface="DejaVu Serif"/>
              </a:rPr>
              <a:t>More guests and limited stock changed the order.</a:t>
            </a:r>
          </a:p>
        </p:txBody>
      </p:sp>
      <p:sp>
        <p:nvSpPr>
          <p:cNvPr id="3" name="">
            <a:extLst xmlns:a="http://schemas.openxmlformats.org/drawingml/2006/main">
              <a:ext uri="{FF2B5EF4-FFF2-40B4-BE49-F238E27FC236}">
                <a16:creationId xmlns:a16="http://schemas.microsoft.com/office/drawing/2014/main" id="{6DD0FEC9-417C-49B3-840A-821BB53A3E79}"/>
              </a:ext>
            </a:extLst>
          </p:cNvPr>
          <p:cNvSpPr>
            <a:spLocks xmlns:a="http://schemas.openxmlformats.org/drawingml/2006/main" noGrp="1"/>
          </p:cNvSpPr>
          <p:nvPr/>
        </p:nvSpPr>
        <p:spPr>
          <a:xfrm xmlns:a="http://schemas.openxmlformats.org/drawingml/2006/main">
            <a:off x="762000" y="33051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Late delivery made pickup worth considering.</a:t>
            </a:r>
          </a:p>
        </p:txBody>
      </p:sp>
      <p:sp>
        <p:nvSpPr>
          <p:cNvPr id="4" name="">
            <a:extLst xmlns:a="http://schemas.openxmlformats.org/drawingml/2006/main">
              <a:ext uri="{FF2B5EF4-FFF2-40B4-BE49-F238E27FC236}">
                <a16:creationId xmlns:a16="http://schemas.microsoft.com/office/drawing/2014/main" id="{3186EBF0-4BE0-4874-AACF-2AFBE9EAF0F0}"/>
              </a:ext>
            </a:extLst>
          </p:cNvPr>
          <p:cNvSpPr>
            <a:spLocks xmlns:a="http://schemas.openxmlformats.org/drawingml/2006/main" noGrp="1"/>
          </p:cNvSpPr>
          <p:nvPr/>
        </p:nvSpPr>
        <p:spPr>
          <a:xfrm xmlns:a="http://schemas.openxmlformats.org/drawingml/2006/main">
            <a:off x="762000" y="43338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A person had to confirm collection before the plan was ready.</a:t>
            </a:r>
          </a:p>
        </p:txBody>
      </p:sp>
      <p:sp>
        <p:nvSpPr>
          <p:cNvPr id="5" name="">
            <a:extLst xmlns:a="http://schemas.openxmlformats.org/drawingml/2006/main">
              <a:ext uri="{FF2B5EF4-FFF2-40B4-BE49-F238E27FC236}">
                <a16:creationId xmlns:a16="http://schemas.microsoft.com/office/drawing/2014/main" id="{5780FF88-D6E0-43F1-A085-1AF6187BDA5B}"/>
              </a:ext>
            </a:extLst>
          </p:cNvPr>
          <p:cNvSpPr>
            <a:spLocks xmlns:a="http://schemas.openxmlformats.org/drawingml/2006/main" noGrp="1"/>
          </p:cNvSpPr>
          <p:nvPr/>
        </p:nvSpPr>
        <p:spPr>
          <a:xfrm xmlns:a="http://schemas.openxmlformats.org/drawingml/2006/main">
            <a:off x="685800" y="5619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Each new fact is a reason to revise, check, and decide what happens next.</a:t>
            </a:r>
          </a:p>
        </p:txBody>
      </p:sp>
      <p:sp>
        <p:nvSpPr>
          <p:cNvPr id="6" name="">
            <a:extLst xmlns:a="http://schemas.openxmlformats.org/drawingml/2006/main">
              <a:ext uri="{FF2B5EF4-FFF2-40B4-BE49-F238E27FC236}">
                <a16:creationId xmlns:a16="http://schemas.microsoft.com/office/drawing/2014/main" id="{AE6885CB-C623-4A08-B339-06AD524AB73A}"/>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7" name="">
            <a:extLst xmlns:a="http://schemas.openxmlformats.org/drawingml/2006/main">
              <a:ext uri="{FF2B5EF4-FFF2-40B4-BE49-F238E27FC236}">
                <a16:creationId xmlns:a16="http://schemas.microsoft.com/office/drawing/2014/main" id="{7EE224A2-21B9-4FBB-AB39-66351E144629}"/>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15</a:t>
            </a:r>
          </a:p>
        </p:txBody>
      </p:sp>
    </p:spTree>
    <p:extLst>
      <p:ext uri="{BB962C8B-B14F-4D97-AF65-F5344CB8AC3E}">
        <p14:creationId xmlns:p14="http://schemas.microsoft.com/office/powerpoint/2010/main" val="20766026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01E76F-EA9F-4603-B247-C87907E3FFAD}"/>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The Human Agent Loop</a:t>
            </a:r>
          </a:p>
        </p:txBody>
      </p:sp>
      <p:sp>
        <p:nvSpPr>
          <p:cNvPr id="2" name="">
            <a:extLst xmlns:a="http://schemas.openxmlformats.org/drawingml/2006/main">
              <a:ext uri="{FF2B5EF4-FFF2-40B4-BE49-F238E27FC236}">
                <a16:creationId xmlns:a16="http://schemas.microsoft.com/office/drawing/2014/main" id="{AB7E2B05-1AC2-41E2-9442-13D36BFE63E7}"/>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C1AFB4DA-8BB2-4FBD-9C55-A693F6357F88}"/>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16</a:t>
            </a:r>
          </a:p>
        </p:txBody>
      </p:sp>
      <p:sp>
        <p:nvSpPr>
          <p:cNvPr id="4" name="">
            <a:extLst xmlns:a="http://schemas.openxmlformats.org/drawingml/2006/main">
              <a:ext uri="{FF2B5EF4-FFF2-40B4-BE49-F238E27FC236}">
                <a16:creationId xmlns:a16="http://schemas.microsoft.com/office/drawing/2014/main" id="{8AD3EC99-CCEC-4D38-A3A7-9D90EC8CA9B8}"/>
              </a:ext>
            </a:extLst>
          </p:cNvPr>
          <p:cNvSpPr>
            <a:spLocks xmlns:a="http://schemas.openxmlformats.org/drawingml/2006/main" noGrp="1"/>
          </p:cNvSpPr>
          <p:nvPr/>
        </p:nvSpPr>
        <p:spPr>
          <a:xfrm xmlns:a="http://schemas.openxmlformats.org/drawingml/2006/main">
            <a:off x="685800" y="17145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0">
                <a:solidFill>
                  <a:srgbClr val="222222"/>
                </a:solidFill>
                <a:latin typeface="DejaVu Serif"/>
                <a:ea typeface="DejaVu Serif"/>
                <a:cs typeface="DejaVu Serif"/>
              </a:defRPr>
            </a:pPr>
            <a:r>
              <a:rPr sz="2175" b="0">
                <a:solidFill>
                  <a:srgbClr val="222222"/>
                </a:solidFill>
                <a:latin typeface="DejaVu Serif"/>
                <a:ea typeface="DejaVu Serif"/>
                <a:cs typeface="DejaVu Serif"/>
              </a:rPr>
              <a:t>GOAL · Feed everyone by noon, within budget.</a:t>
            </a:r>
          </a:p>
        </p:txBody>
      </p:sp>
      <p:sp>
        <p:nvSpPr>
          <p:cNvPr id="5" name="">
            <a:extLst xmlns:a="http://schemas.openxmlformats.org/drawingml/2006/main">
              <a:ext uri="{FF2B5EF4-FFF2-40B4-BE49-F238E27FC236}">
                <a16:creationId xmlns:a16="http://schemas.microsoft.com/office/drawing/2014/main" id="{1C3E5A45-7BD4-41E3-827C-A54BD3D69866}"/>
              </a:ext>
            </a:extLst>
          </p:cNvPr>
          <p:cNvSpPr>
            <a:spLocks xmlns:a="http://schemas.openxmlformats.org/drawingml/2006/main" noGrp="1"/>
          </p:cNvSpPr>
          <p:nvPr/>
        </p:nvSpPr>
        <p:spPr>
          <a:xfrm xmlns:a="http://schemas.openxmlformats.org/drawingml/2006/main">
            <a:off x="685800" y="244792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0">
                <a:solidFill>
                  <a:srgbClr val="222222"/>
                </a:solidFill>
                <a:latin typeface="DejaVu Serif"/>
                <a:ea typeface="DejaVu Serif"/>
                <a:cs typeface="DejaVu Serif"/>
              </a:defRPr>
            </a:pPr>
            <a:r>
              <a:rPr sz="2175" b="0">
                <a:solidFill>
                  <a:srgbClr val="222222"/>
                </a:solidFill>
                <a:latin typeface="DejaVu Serif"/>
                <a:ea typeface="DejaVu Serif"/>
                <a:cs typeface="DejaVu Serif"/>
              </a:rPr>
              <a:t>STATE · Headcount, diet, stock, price and timing.</a:t>
            </a:r>
          </a:p>
        </p:txBody>
      </p:sp>
      <p:sp>
        <p:nvSpPr>
          <p:cNvPr id="6" name="">
            <a:extLst xmlns:a="http://schemas.openxmlformats.org/drawingml/2006/main">
              <a:ext uri="{FF2B5EF4-FFF2-40B4-BE49-F238E27FC236}">
                <a16:creationId xmlns:a16="http://schemas.microsoft.com/office/drawing/2014/main" id="{93E00718-FBC0-4420-8F9A-79C19FA366AA}"/>
              </a:ext>
            </a:extLst>
          </p:cNvPr>
          <p:cNvSpPr>
            <a:spLocks xmlns:a="http://schemas.openxmlformats.org/drawingml/2006/main" noGrp="1"/>
          </p:cNvSpPr>
          <p:nvPr/>
        </p:nvSpPr>
        <p:spPr>
          <a:xfrm xmlns:a="http://schemas.openxmlformats.org/drawingml/2006/main">
            <a:off x="685800" y="318135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0">
                <a:solidFill>
                  <a:srgbClr val="222222"/>
                </a:solidFill>
                <a:latin typeface="DejaVu Serif"/>
                <a:ea typeface="DejaVu Serif"/>
                <a:cs typeface="DejaVu Serif"/>
              </a:defRPr>
            </a:pPr>
            <a:r>
              <a:rPr sz="2175" b="0">
                <a:solidFill>
                  <a:srgbClr val="222222"/>
                </a:solidFill>
                <a:latin typeface="DejaVu Serif"/>
                <a:ea typeface="DejaVu Serif"/>
                <a:cs typeface="DejaVu Serif"/>
              </a:rPr>
              <a:t>ACTION · Ask, calculate, revise or seek confirmation.</a:t>
            </a:r>
          </a:p>
        </p:txBody>
      </p:sp>
      <p:sp>
        <p:nvSpPr>
          <p:cNvPr id="7" name="">
            <a:extLst xmlns:a="http://schemas.openxmlformats.org/drawingml/2006/main">
              <a:ext uri="{FF2B5EF4-FFF2-40B4-BE49-F238E27FC236}">
                <a16:creationId xmlns:a16="http://schemas.microsoft.com/office/drawing/2014/main" id="{D17239FB-5AB4-4100-AFC1-0443DD70A140}"/>
              </a:ext>
            </a:extLst>
          </p:cNvPr>
          <p:cNvSpPr>
            <a:spLocks xmlns:a="http://schemas.openxmlformats.org/drawingml/2006/main" noGrp="1"/>
          </p:cNvSpPr>
          <p:nvPr/>
        </p:nvSpPr>
        <p:spPr>
          <a:xfrm xmlns:a="http://schemas.openxmlformats.org/drawingml/2006/main">
            <a:off x="685800" y="391477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0">
                <a:solidFill>
                  <a:srgbClr val="222222"/>
                </a:solidFill>
                <a:latin typeface="DejaVu Serif"/>
                <a:ea typeface="DejaVu Serif"/>
                <a:cs typeface="DejaVu Serif"/>
              </a:defRPr>
            </a:pPr>
            <a:r>
              <a:rPr sz="2175" b="0">
                <a:solidFill>
                  <a:srgbClr val="222222"/>
                </a:solidFill>
                <a:latin typeface="DejaVu Serif"/>
                <a:ea typeface="DejaVu Serif"/>
                <a:cs typeface="DejaVu Serif"/>
              </a:rPr>
              <a:t>UPDATE · Carry new facts into the next decision.</a:t>
            </a:r>
          </a:p>
        </p:txBody>
      </p:sp>
      <p:sp>
        <p:nvSpPr>
          <p:cNvPr id="8" name="">
            <a:extLst xmlns:a="http://schemas.openxmlformats.org/drawingml/2006/main">
              <a:ext uri="{FF2B5EF4-FFF2-40B4-BE49-F238E27FC236}">
                <a16:creationId xmlns:a16="http://schemas.microsoft.com/office/drawing/2014/main" id="{A47987AC-D148-4D8B-BF5A-EE300BEF0DC8}"/>
              </a:ext>
            </a:extLst>
          </p:cNvPr>
          <p:cNvSpPr>
            <a:spLocks xmlns:a="http://schemas.openxmlformats.org/drawingml/2006/main" noGrp="1"/>
          </p:cNvSpPr>
          <p:nvPr/>
        </p:nvSpPr>
        <p:spPr>
          <a:xfrm xmlns:a="http://schemas.openxmlformats.org/drawingml/2006/main">
            <a:off x="685800" y="4648200"/>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175" b="0">
                <a:solidFill>
                  <a:srgbClr val="222222"/>
                </a:solidFill>
                <a:latin typeface="DejaVu Serif"/>
                <a:ea typeface="DejaVu Serif"/>
                <a:cs typeface="DejaVu Serif"/>
              </a:defRPr>
            </a:pPr>
            <a:r>
              <a:rPr sz="2175" b="0">
                <a:solidFill>
                  <a:srgbClr val="222222"/>
                </a:solidFill>
                <a:latin typeface="DejaVu Serif"/>
                <a:ea typeface="DejaVu Serif"/>
                <a:cs typeface="DejaVu Serif"/>
              </a:rPr>
              <a:t>STOP · A checked plan, or a missing human decision.</a:t>
            </a:r>
          </a:p>
        </p:txBody>
      </p:sp>
      <p:sp>
        <p:nvSpPr>
          <p:cNvPr id="9" name="">
            <a:extLst xmlns:a="http://schemas.openxmlformats.org/drawingml/2006/main">
              <a:ext uri="{FF2B5EF4-FFF2-40B4-BE49-F238E27FC236}">
                <a16:creationId xmlns:a16="http://schemas.microsoft.com/office/drawing/2014/main" id="{B3EFBE11-BC11-46BB-AEB3-427131F69F5D}"/>
              </a:ext>
            </a:extLst>
          </p:cNvPr>
          <p:cNvSpPr>
            <a:spLocks xmlns:a="http://schemas.openxmlformats.org/drawingml/2006/main" noGrp="1"/>
          </p:cNvSpPr>
          <p:nvPr/>
        </p:nvSpPr>
        <p:spPr>
          <a:xfrm xmlns:a="http://schemas.openxmlformats.org/drawingml/2006/main">
            <a:off x="685800" y="57054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Here, you supply the facts. The chat does not place an order.</a:t>
            </a:r>
          </a:p>
        </p:txBody>
      </p:sp>
    </p:spTree>
    <p:extLst>
      <p:ext uri="{BB962C8B-B14F-4D97-AF65-F5344CB8AC3E}">
        <p14:creationId xmlns:p14="http://schemas.microsoft.com/office/powerpoint/2010/main" val="417051125"/>
      </p:ext>
    </p:extLst>
  </p:cSld>
</p:sld>
</file>

<file path=ppt/slides/slide17.xml><?xml version="1.0" encoding="utf-8"?>
<p:sld xmlns:p="http://schemas.openxmlformats.org/presentationml/2006/main">
  <p:cSld>
    <p:bg>
      <p:bgPr>
        <a:solidFill xmlns:a="http://schemas.openxmlformats.org/drawingml/2006/main">
          <a:srgbClr val="F8F2F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51EDC1-0E12-4B3C-822B-FA64A3424ED6}"/>
              </a:ext>
            </a:extLst>
          </p:cNvPr>
          <p:cNvSpPr>
            <a:spLocks xmlns:a="http://schemas.openxmlformats.org/drawingml/2006/main" noGrp="1"/>
          </p:cNvSpPr>
          <p:nvPr/>
        </p:nvSpPr>
        <p:spPr>
          <a:xfrm xmlns:a="http://schemas.openxmlformats.org/drawingml/2006/main">
            <a:off x="762000" y="733425"/>
            <a:ext cx="1047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4200" b="1">
                <a:solidFill>
                  <a:srgbClr val="7A0019"/>
                </a:solidFill>
                <a:latin typeface="DejaVu Serif"/>
                <a:ea typeface="DejaVu Serif"/>
                <a:cs typeface="DejaVu Serif"/>
              </a:defRPr>
            </a:pPr>
            <a:r>
              <a:rPr sz="4200" b="1">
                <a:solidFill>
                  <a:srgbClr val="7A0019"/>
                </a:solidFill>
                <a:latin typeface="DejaVu Serif"/>
                <a:ea typeface="DejaVu Serif"/>
                <a:cs typeface="DejaVu Serif"/>
              </a:rPr>
              <a:t>Your conversation. Your decisions</a:t>
            </a:r>
          </a:p>
        </p:txBody>
      </p:sp>
      <p:sp>
        <p:nvSpPr>
          <p:cNvPr id="2" name="">
            <a:extLst xmlns:a="http://schemas.openxmlformats.org/drawingml/2006/main">
              <a:ext uri="{FF2B5EF4-FFF2-40B4-BE49-F238E27FC236}">
                <a16:creationId xmlns:a16="http://schemas.microsoft.com/office/drawing/2014/main" id="{9B95BE87-39FB-4FCE-B6DD-F0B5F33C6455}"/>
              </a:ext>
            </a:extLst>
          </p:cNvPr>
          <p:cNvSpPr>
            <a:spLocks xmlns:a="http://schemas.openxmlformats.org/drawingml/2006/main" noGrp="1"/>
          </p:cNvSpPr>
          <p:nvPr/>
        </p:nvSpPr>
        <p:spPr>
          <a:xfrm xmlns:a="http://schemas.openxmlformats.org/drawingml/2006/main">
            <a:off x="762000" y="22764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550" b="0">
                <a:solidFill>
                  <a:srgbClr val="7A0019"/>
                </a:solidFill>
                <a:latin typeface="DejaVu Serif"/>
                <a:ea typeface="DejaVu Serif"/>
                <a:cs typeface="DejaVu Serif"/>
              </a:defRPr>
            </a:pPr>
            <a:r>
              <a:rPr sz="2550" b="0">
                <a:solidFill>
                  <a:srgbClr val="7A0019"/>
                </a:solidFill>
                <a:latin typeface="DejaVu Serif"/>
                <a:ea typeface="DejaVu Serif"/>
                <a:cs typeface="DejaVu Serif"/>
              </a:rPr>
              <a:t>Use your own words to work through the problem.</a:t>
            </a:r>
          </a:p>
        </p:txBody>
      </p:sp>
      <p:sp>
        <p:nvSpPr>
          <p:cNvPr id="3" name="">
            <a:extLst xmlns:a="http://schemas.openxmlformats.org/drawingml/2006/main">
              <a:ext uri="{FF2B5EF4-FFF2-40B4-BE49-F238E27FC236}">
                <a16:creationId xmlns:a16="http://schemas.microsoft.com/office/drawing/2014/main" id="{4B6C2F84-7868-4399-A5DC-E10C39746741}"/>
              </a:ext>
            </a:extLst>
          </p:cNvPr>
          <p:cNvSpPr>
            <a:spLocks xmlns:a="http://schemas.openxmlformats.org/drawingml/2006/main" noGrp="1"/>
          </p:cNvSpPr>
          <p:nvPr/>
        </p:nvSpPr>
        <p:spPr>
          <a:xfrm xmlns:a="http://schemas.openxmlformats.org/drawingml/2006/main">
            <a:off x="762000" y="33051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Keep all four parts in the same conversation.</a:t>
            </a:r>
          </a:p>
        </p:txBody>
      </p:sp>
      <p:sp>
        <p:nvSpPr>
          <p:cNvPr id="4" name="">
            <a:extLst xmlns:a="http://schemas.openxmlformats.org/drawingml/2006/main">
              <a:ext uri="{FF2B5EF4-FFF2-40B4-BE49-F238E27FC236}">
                <a16:creationId xmlns:a16="http://schemas.microsoft.com/office/drawing/2014/main" id="{2D02586A-686C-42B9-9971-441964E2CA66}"/>
              </a:ext>
            </a:extLst>
          </p:cNvPr>
          <p:cNvSpPr>
            <a:spLocks xmlns:a="http://schemas.openxmlformats.org/drawingml/2006/main" noGrp="1"/>
          </p:cNvSpPr>
          <p:nvPr/>
        </p:nvSpPr>
        <p:spPr>
          <a:xfrm xmlns:a="http://schemas.openxmlformats.org/drawingml/2006/main">
            <a:off x="762000" y="4333875"/>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250" b="0">
                <a:solidFill>
                  <a:srgbClr val="222222"/>
                </a:solidFill>
                <a:latin typeface="DejaVu Serif"/>
                <a:ea typeface="DejaVu Serif"/>
                <a:cs typeface="DejaVu Serif"/>
              </a:defRPr>
            </a:pPr>
            <a:r>
              <a:rPr sz="2250" b="0">
                <a:solidFill>
                  <a:srgbClr val="222222"/>
                </a:solidFill>
                <a:latin typeface="DejaVu Serif"/>
                <a:ea typeface="DejaVu Serif"/>
                <a:cs typeface="DejaVu Serif"/>
              </a:rPr>
              <a:t>Check the plan when each new fact arrives.</a:t>
            </a:r>
          </a:p>
        </p:txBody>
      </p:sp>
      <p:sp>
        <p:nvSpPr>
          <p:cNvPr id="5" name="">
            <a:extLst xmlns:a="http://schemas.openxmlformats.org/drawingml/2006/main">
              <a:ext uri="{FF2B5EF4-FFF2-40B4-BE49-F238E27FC236}">
                <a16:creationId xmlns:a16="http://schemas.microsoft.com/office/drawing/2014/main" id="{6CCF3684-9023-4610-8A00-8474B3D02775}"/>
              </a:ext>
            </a:extLst>
          </p:cNvPr>
          <p:cNvSpPr>
            <a:spLocks xmlns:a="http://schemas.openxmlformats.org/drawingml/2006/main" noGrp="1"/>
          </p:cNvSpPr>
          <p:nvPr/>
        </p:nvSpPr>
        <p:spPr>
          <a:xfrm xmlns:a="http://schemas.openxmlformats.org/drawingml/2006/main">
            <a:off x="685800" y="56197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Work individually or in pairs. No coding or perfect prompt required.</a:t>
            </a:r>
          </a:p>
        </p:txBody>
      </p:sp>
      <p:sp>
        <p:nvSpPr>
          <p:cNvPr id="6" name="">
            <a:extLst xmlns:a="http://schemas.openxmlformats.org/drawingml/2006/main">
              <a:ext uri="{FF2B5EF4-FFF2-40B4-BE49-F238E27FC236}">
                <a16:creationId xmlns:a16="http://schemas.microsoft.com/office/drawing/2014/main" id="{11175F8B-E636-4CFF-9D8A-39BA45D0F165}"/>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7" name="">
            <a:extLst xmlns:a="http://schemas.openxmlformats.org/drawingml/2006/main">
              <a:ext uri="{FF2B5EF4-FFF2-40B4-BE49-F238E27FC236}">
                <a16:creationId xmlns:a16="http://schemas.microsoft.com/office/drawing/2014/main" id="{4F86A703-EBF8-4CCC-BD32-3FB0088A68BB}"/>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17</a:t>
            </a:r>
          </a:p>
        </p:txBody>
      </p:sp>
    </p:spTree>
    <p:extLst>
      <p:ext uri="{BB962C8B-B14F-4D97-AF65-F5344CB8AC3E}">
        <p14:creationId xmlns:p14="http://schemas.microsoft.com/office/powerpoint/2010/main" val="10352643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52FD8E-BFA9-4B3F-A8AE-B693BD769782}"/>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Four parts. Twenty minutes</a:t>
            </a:r>
          </a:p>
        </p:txBody>
      </p:sp>
      <p:sp>
        <p:nvSpPr>
          <p:cNvPr id="2" name="">
            <a:extLst xmlns:a="http://schemas.openxmlformats.org/drawingml/2006/main">
              <a:ext uri="{FF2B5EF4-FFF2-40B4-BE49-F238E27FC236}">
                <a16:creationId xmlns:a16="http://schemas.microsoft.com/office/drawing/2014/main" id="{56B8646F-F0FB-4B84-9D2E-AF29A3C1D076}"/>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43BE7A68-C439-4FEB-A407-49CAA9BD8778}"/>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18</a:t>
            </a:r>
          </a:p>
        </p:txBody>
      </p:sp>
      <p:sp>
        <p:nvSpPr>
          <p:cNvPr id="4" name="">
            <a:extLst xmlns:a="http://schemas.openxmlformats.org/drawingml/2006/main">
              <a:ext uri="{FF2B5EF4-FFF2-40B4-BE49-F238E27FC236}">
                <a16:creationId xmlns:a16="http://schemas.microsoft.com/office/drawing/2014/main" id="{146BBBFA-A745-482C-8E5B-3043CD93B0EB}"/>
              </a:ext>
            </a:extLst>
          </p:cNvPr>
          <p:cNvSpPr>
            <a:spLocks xmlns:a="http://schemas.openxmlformats.org/drawingml/2006/main" noGrp="1"/>
          </p:cNvSpPr>
          <p:nvPr/>
        </p:nvSpPr>
        <p:spPr>
          <a:xfrm xmlns:a="http://schemas.openxmlformats.org/drawingml/2006/main">
            <a:off x="685800" y="17145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0–5 · Make a first plan for 24 people.</a:t>
            </a:r>
          </a:p>
        </p:txBody>
      </p:sp>
      <p:sp>
        <p:nvSpPr>
          <p:cNvPr id="5" name="">
            <a:extLst xmlns:a="http://schemas.openxmlformats.org/drawingml/2006/main">
              <a:ext uri="{FF2B5EF4-FFF2-40B4-BE49-F238E27FC236}">
                <a16:creationId xmlns:a16="http://schemas.microsoft.com/office/drawing/2014/main" id="{764C8155-45B5-4328-B11D-CAE89E1D7C14}"/>
              </a:ext>
            </a:extLst>
          </p:cNvPr>
          <p:cNvSpPr>
            <a:spLocks xmlns:a="http://schemas.openxmlformats.org/drawingml/2006/main" noGrp="1"/>
          </p:cNvSpPr>
          <p:nvPr/>
        </p:nvSpPr>
        <p:spPr>
          <a:xfrm xmlns:a="http://schemas.openxmlformats.org/drawingml/2006/main">
            <a:off x="685800" y="2590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5–10 · Adjust to 30 people, diets and limited stock.</a:t>
            </a:r>
          </a:p>
        </p:txBody>
      </p:sp>
      <p:sp>
        <p:nvSpPr>
          <p:cNvPr id="6" name="">
            <a:extLst xmlns:a="http://schemas.openxmlformats.org/drawingml/2006/main">
              <a:ext uri="{FF2B5EF4-FFF2-40B4-BE49-F238E27FC236}">
                <a16:creationId xmlns:a16="http://schemas.microsoft.com/office/drawing/2014/main" id="{C87240C5-33AC-4BCE-AC43-CCD87881FFBB}"/>
              </a:ext>
            </a:extLst>
          </p:cNvPr>
          <p:cNvSpPr>
            <a:spLocks xmlns:a="http://schemas.openxmlformats.org/drawingml/2006/main" noGrp="1"/>
          </p:cNvSpPr>
          <p:nvPr/>
        </p:nvSpPr>
        <p:spPr>
          <a:xfrm xmlns:a="http://schemas.openxmlformats.org/drawingml/2006/main">
            <a:off x="685800" y="3467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10–15 · Solve the timing problem and check what is unconfirmed.</a:t>
            </a:r>
          </a:p>
        </p:txBody>
      </p:sp>
      <p:sp>
        <p:nvSpPr>
          <p:cNvPr id="7" name="">
            <a:extLst xmlns:a="http://schemas.openxmlformats.org/drawingml/2006/main">
              <a:ext uri="{FF2B5EF4-FFF2-40B4-BE49-F238E27FC236}">
                <a16:creationId xmlns:a16="http://schemas.microsoft.com/office/drawing/2014/main" id="{3A4E9465-2201-41F8-989A-29D308AC9424}"/>
              </a:ext>
            </a:extLst>
          </p:cNvPr>
          <p:cNvSpPr>
            <a:spLocks xmlns:a="http://schemas.openxmlformats.org/drawingml/2006/main" noGrp="1"/>
          </p:cNvSpPr>
          <p:nvPr/>
        </p:nvSpPr>
        <p:spPr>
          <a:xfrm xmlns:a="http://schemas.openxmlformats.org/drawingml/2006/main">
            <a:off x="685800" y="43434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15–20 · Finish the proposal and reflect.</a:t>
            </a:r>
          </a:p>
        </p:txBody>
      </p:sp>
      <p:sp>
        <p:nvSpPr>
          <p:cNvPr id="8" name="">
            <a:extLst xmlns:a="http://schemas.openxmlformats.org/drawingml/2006/main">
              <a:ext uri="{FF2B5EF4-FFF2-40B4-BE49-F238E27FC236}">
                <a16:creationId xmlns:a16="http://schemas.microsoft.com/office/drawing/2014/main" id="{446E1325-8256-43D5-9974-87CF29EF02C9}"/>
              </a:ext>
            </a:extLst>
          </p:cNvPr>
          <p:cNvSpPr>
            <a:spLocks xmlns:a="http://schemas.openxmlformats.org/drawingml/2006/main" noGrp="1"/>
          </p:cNvSpPr>
          <p:nvPr/>
        </p:nvSpPr>
        <p:spPr>
          <a:xfrm xmlns:a="http://schemas.openxmlformats.org/drawingml/2006/main">
            <a:off x="685800" y="57054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One meal + one drink each. $200 total. Lunch starts at noon.</a:t>
            </a:r>
          </a:p>
        </p:txBody>
      </p:sp>
    </p:spTree>
    <p:extLst>
      <p:ext uri="{BB962C8B-B14F-4D97-AF65-F5344CB8AC3E}">
        <p14:creationId xmlns:p14="http://schemas.microsoft.com/office/powerpoint/2010/main" val="16194387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8A547D-5C20-4AD6-B393-5FF050043365}"/>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3450" b="1">
                <a:solidFill>
                  <a:srgbClr val="7A0019"/>
                </a:solidFill>
                <a:latin typeface="DejaVu Serif"/>
                <a:ea typeface="DejaVu Serif"/>
                <a:cs typeface="DejaVu Serif"/>
              </a:defRPr>
            </a:pPr>
            <a:r>
              <a:rPr sz="3450" b="1">
                <a:solidFill>
                  <a:srgbClr val="7A0019"/>
                </a:solidFill>
                <a:latin typeface="DejaVu Serif"/>
                <a:ea typeface="DejaVu Serif"/>
                <a:cs typeface="DejaVu Serif"/>
              </a:rPr>
              <a:t>Leave with a plan you can defend</a:t>
            </a:r>
          </a:p>
        </p:txBody>
      </p:sp>
      <p:sp>
        <p:nvSpPr>
          <p:cNvPr id="2" name="">
            <a:extLst xmlns:a="http://schemas.openxmlformats.org/drawingml/2006/main">
              <a:ext uri="{FF2B5EF4-FFF2-40B4-BE49-F238E27FC236}">
                <a16:creationId xmlns:a16="http://schemas.microsoft.com/office/drawing/2014/main" id="{A68E0836-BB4E-4169-A6F6-95E7BDA86AC9}"/>
              </a:ext>
            </a:extLst>
          </p:cNvPr>
          <p:cNvSpPr>
            <a:spLocks xmlns:a="http://schemas.openxmlformats.org/drawingml/2006/main" noGrp="1"/>
          </p:cNvSpPr>
          <p:nvPr/>
        </p:nvSpPr>
        <p:spPr>
          <a:xfrm xmlns:a="http://schemas.openxmlformats.org/drawingml/2006/main">
            <a:off x="609600" y="646747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Chapman Agentics Labs</a:t>
            </a:r>
          </a:p>
        </p:txBody>
      </p:sp>
      <p:sp>
        <p:nvSpPr>
          <p:cNvPr id="3" name="">
            <a:extLst xmlns:a="http://schemas.openxmlformats.org/drawingml/2006/main">
              <a:ext uri="{FF2B5EF4-FFF2-40B4-BE49-F238E27FC236}">
                <a16:creationId xmlns:a16="http://schemas.microsoft.com/office/drawing/2014/main" id="{58A65715-47B0-4760-97C0-56EC99A72E51}"/>
              </a:ext>
            </a:extLst>
          </p:cNvPr>
          <p:cNvSpPr>
            <a:spLocks xmlns:a="http://schemas.openxmlformats.org/drawingml/2006/main" noGrp="1"/>
          </p:cNvSpPr>
          <p:nvPr/>
        </p:nvSpPr>
        <p:spPr>
          <a:xfrm xmlns:a="http://schemas.openxmlformats.org/drawingml/2006/main">
            <a:off x="10858500" y="646747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r">
              <a:defRPr sz="1200" b="0">
                <a:solidFill>
                  <a:srgbClr val="5D5D5D"/>
                </a:solidFill>
                <a:latin typeface="DejaVu Serif"/>
                <a:ea typeface="DejaVu Serif"/>
                <a:cs typeface="DejaVu Serif"/>
              </a:defRPr>
            </a:pPr>
            <a:r>
              <a:rPr sz="1200" b="0">
                <a:solidFill>
                  <a:srgbClr val="5D5D5D"/>
                </a:solidFill>
                <a:latin typeface="DejaVu Serif"/>
                <a:ea typeface="DejaVu Serif"/>
                <a:cs typeface="DejaVu Serif"/>
              </a:rPr>
              <a:t>19</a:t>
            </a:r>
          </a:p>
        </p:txBody>
      </p:sp>
      <p:sp>
        <p:nvSpPr>
          <p:cNvPr id="4" name="">
            <a:extLst xmlns:a="http://schemas.openxmlformats.org/drawingml/2006/main">
              <a:ext uri="{FF2B5EF4-FFF2-40B4-BE49-F238E27FC236}">
                <a16:creationId xmlns:a16="http://schemas.microsoft.com/office/drawing/2014/main" id="{3DC0A97A-D9A8-4FB4-8347-781C72DE1F40}"/>
              </a:ext>
            </a:extLst>
          </p:cNvPr>
          <p:cNvSpPr>
            <a:spLocks xmlns:a="http://schemas.openxmlformats.org/drawingml/2006/main" noGrp="1"/>
          </p:cNvSpPr>
          <p:nvPr/>
        </p:nvSpPr>
        <p:spPr>
          <a:xfrm xmlns:a="http://schemas.openxmlformats.org/drawingml/2006/main">
            <a:off x="685800" y="17145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Four short records, plus your app and model name.</a:t>
            </a:r>
          </a:p>
        </p:txBody>
      </p:sp>
      <p:sp>
        <p:nvSpPr>
          <p:cNvPr id="5" name="">
            <a:extLst xmlns:a="http://schemas.openxmlformats.org/drawingml/2006/main">
              <a:ext uri="{FF2B5EF4-FFF2-40B4-BE49-F238E27FC236}">
                <a16:creationId xmlns:a16="http://schemas.microsoft.com/office/drawing/2014/main" id="{14352D5D-0B6E-45CD-9FDD-EAA084D99A6C}"/>
              </a:ext>
            </a:extLst>
          </p:cNvPr>
          <p:cNvSpPr>
            <a:spLocks xmlns:a="http://schemas.openxmlformats.org/drawingml/2006/main" noGrp="1"/>
          </p:cNvSpPr>
          <p:nvPr/>
        </p:nvSpPr>
        <p:spPr>
          <a:xfrm xmlns:a="http://schemas.openxmlformats.org/drawingml/2006/main">
            <a:off x="685800" y="2590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A final menu, checked cost and pickup arrangement.</a:t>
            </a:r>
          </a:p>
        </p:txBody>
      </p:sp>
      <p:sp>
        <p:nvSpPr>
          <p:cNvPr id="6" name="">
            <a:extLst xmlns:a="http://schemas.openxmlformats.org/drawingml/2006/main">
              <a:ext uri="{FF2B5EF4-FFF2-40B4-BE49-F238E27FC236}">
                <a16:creationId xmlns:a16="http://schemas.microsoft.com/office/drawing/2014/main" id="{AC292695-1AA2-4E01-8184-F26B477122B5}"/>
              </a:ext>
            </a:extLst>
          </p:cNvPr>
          <p:cNvSpPr>
            <a:spLocks xmlns:a="http://schemas.openxmlformats.org/drawingml/2006/main" noGrp="1"/>
          </p:cNvSpPr>
          <p:nvPr/>
        </p:nvSpPr>
        <p:spPr>
          <a:xfrm xmlns:a="http://schemas.openxmlformats.org/drawingml/2006/main">
            <a:off x="685800" y="3467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One thing the bot did well and one check or correction you made.</a:t>
            </a:r>
          </a:p>
        </p:txBody>
      </p:sp>
      <p:sp>
        <p:nvSpPr>
          <p:cNvPr id="7" name="">
            <a:extLst xmlns:a="http://schemas.openxmlformats.org/drawingml/2006/main">
              <a:ext uri="{FF2B5EF4-FFF2-40B4-BE49-F238E27FC236}">
                <a16:creationId xmlns:a16="http://schemas.microsoft.com/office/drawing/2014/main" id="{29BB0859-6594-4130-9128-581E2C26AA91}"/>
              </a:ext>
            </a:extLst>
          </p:cNvPr>
          <p:cNvSpPr>
            <a:spLocks xmlns:a="http://schemas.openxmlformats.org/drawingml/2006/main" noGrp="1"/>
          </p:cNvSpPr>
          <p:nvPr/>
        </p:nvSpPr>
        <p:spPr>
          <a:xfrm xmlns:a="http://schemas.openxmlformats.org/drawingml/2006/main">
            <a:off x="685800" y="43434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2325" b="0">
                <a:solidFill>
                  <a:srgbClr val="222222"/>
                </a:solidFill>
                <a:latin typeface="DejaVu Serif"/>
                <a:ea typeface="DejaVu Serif"/>
                <a:cs typeface="DejaVu Serif"/>
              </a:defRPr>
            </a:pPr>
            <a:r>
              <a:rPr sz="2325" b="0">
                <a:solidFill>
                  <a:srgbClr val="222222"/>
                </a:solidFill>
                <a:latin typeface="DejaVu Serif"/>
                <a:ea typeface="DejaVu Serif"/>
                <a:cs typeface="DejaVu Serif"/>
              </a:rPr>
              <a:t>A reason the planning task is finished.</a:t>
            </a:r>
          </a:p>
        </p:txBody>
      </p:sp>
      <p:sp>
        <p:nvSpPr>
          <p:cNvPr id="8" name="">
            <a:extLst xmlns:a="http://schemas.openxmlformats.org/drawingml/2006/main">
              <a:ext uri="{FF2B5EF4-FFF2-40B4-BE49-F238E27FC236}">
                <a16:creationId xmlns:a16="http://schemas.microsoft.com/office/drawing/2014/main" id="{3305044D-F1A9-420D-B076-941298CA9376}"/>
              </a:ext>
            </a:extLst>
          </p:cNvPr>
          <p:cNvSpPr>
            <a:spLocks xmlns:a="http://schemas.openxmlformats.org/drawingml/2006/main" noGrp="1"/>
          </p:cNvSpPr>
          <p:nvPr/>
        </p:nvSpPr>
        <p:spPr>
          <a:xfrm xmlns:a="http://schemas.openxmlformats.org/drawingml/2006/main">
            <a:off x="685800" y="57054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l">
              <a:defRPr sz="1725" b="0">
                <a:solidFill>
                  <a:srgbClr val="7A0019"/>
                </a:solidFill>
                <a:latin typeface="DejaVu Serif"/>
                <a:ea typeface="DejaVu Serif"/>
                <a:cs typeface="DejaVu Serif"/>
              </a:defRPr>
            </a:pPr>
            <a:r>
              <a:rPr sz="1725" b="0">
                <a:solidFill>
                  <a:srgbClr val="7A0019"/>
                </a:solidFill>
                <a:latin typeface="DejaVu Serif"/>
                <a:ea typeface="DejaVu Serif"/>
                <a:cs typeface="DejaVu Serif"/>
              </a:rPr>
              <a:t>Download your record or use the two-page handout.</a:t>
            </a:r>
          </a:p>
        </p:txBody>
      </p:sp>
    </p:spTree>
    <p:extLst>
      <p:ext uri="{BB962C8B-B14F-4D97-AF65-F5344CB8AC3E}">
        <p14:creationId xmlns:p14="http://schemas.microsoft.com/office/powerpoint/2010/main" val="190637295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e8d05bd2a1542d2"/>
          <a:stretch xmlns:a="http://schemas.openxmlformats.org/drawingml/2006/main"/>
        </p:blipFill>
        <p:spPr>
          <a:xfrm xmlns:a="http://schemas.openxmlformats.org/drawingml/2006/main">
            <a:off x="1907227" y="152400"/>
            <a:ext cx="8377546" cy="47148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A02272-880A-4403-B590-762ECEC47E75}"/>
              </a:ext>
            </a:extLst>
          </p:cNvPr>
          <p:cNvSpPr>
            <a:spLocks xmlns:a="http://schemas.openxmlformats.org/drawingml/2006/main" noGrp="1"/>
          </p:cNvSpPr>
          <p:nvPr/>
        </p:nvSpPr>
        <p:spPr>
          <a:xfrm xmlns:a="http://schemas.openxmlformats.org/drawingml/2006/main">
            <a:off x="762000" y="49911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2250" b="1">
                <a:solidFill>
                  <a:srgbClr val="7A0019"/>
                </a:solidFill>
                <a:latin typeface="DejaVu Serif"/>
                <a:ea typeface="DejaVu Serif"/>
                <a:cs typeface="DejaVu Serif"/>
              </a:defRPr>
            </a:pPr>
            <a:r>
              <a:rPr sz="2250" b="1">
                <a:solidFill>
                  <a:srgbClr val="7A0019"/>
                </a:solidFill>
                <a:latin typeface="DejaVu Serif"/>
                <a:ea typeface="DejaVu Serif"/>
                <a:cs typeface="DejaVu Serif"/>
              </a:rPr>
              <a:t>Lab help + general learning: ask me.</a:t>
            </a:r>
          </a:p>
        </p:txBody>
      </p:sp>
      <p:sp>
        <p:nvSpPr>
          <p:cNvPr id="3" name="">
            <a:extLst xmlns:a="http://schemas.openxmlformats.org/drawingml/2006/main">
              <a:ext uri="{FF2B5EF4-FFF2-40B4-BE49-F238E27FC236}">
                <a16:creationId xmlns:a16="http://schemas.microsoft.com/office/drawing/2014/main" id="{FBB48972-ECB9-4F22-9BFD-DB6A1B963D68}"/>
              </a:ext>
            </a:extLst>
          </p:cNvPr>
          <p:cNvSpPr>
            <a:spLocks xmlns:a="http://schemas.openxmlformats.org/drawingml/2006/main" noGrp="1"/>
          </p:cNvSpPr>
          <p:nvPr/>
        </p:nvSpPr>
        <p:spPr>
          <a:xfrm xmlns:a="http://schemas.openxmlformats.org/drawingml/2006/main">
            <a:off x="762000" y="55149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75" b="0">
                <a:solidFill>
                  <a:srgbClr val="222222"/>
                </a:solidFill>
                <a:latin typeface="DejaVu Serif"/>
                <a:ea typeface="DejaVu Serif"/>
                <a:cs typeface="DejaVu Serif"/>
              </a:defRPr>
            </a:pPr>
            <a:r>
              <a:rPr sz="1875" b="0">
                <a:solidFill>
                  <a:srgbClr val="222222"/>
                </a:solidFill>
                <a:latin typeface="DejaVu Serif"/>
                <a:ea typeface="DejaVu Serif"/>
                <a:cs typeface="DejaVu Serif"/>
              </a:rPr>
              <a:t>Deeper project support + commercial work: Riverbot Agentics.</a:t>
            </a:r>
          </a:p>
        </p:txBody>
      </p:sp>
      <p:sp>
        <p:nvSpPr>
          <p:cNvPr id="4" name="">
            <a:extLst xmlns:a="http://schemas.openxmlformats.org/drawingml/2006/main">
              <a:ext uri="{FF2B5EF4-FFF2-40B4-BE49-F238E27FC236}">
                <a16:creationId xmlns:a16="http://schemas.microsoft.com/office/drawing/2014/main" id="{5842F203-50FA-4F64-8C31-EE6C7DB428F9}"/>
              </a:ext>
            </a:extLst>
          </p:cNvPr>
          <p:cNvSpPr>
            <a:spLocks xmlns:a="http://schemas.openxmlformats.org/drawingml/2006/main" noGrp="1"/>
          </p:cNvSpPr>
          <p:nvPr/>
        </p:nvSpPr>
        <p:spPr>
          <a:xfrm xmlns:a="http://schemas.openxmlformats.org/drawingml/2006/main">
            <a:off x="76200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lgn="ctr">
              <a:defRPr sz="1875" b="0">
                <a:solidFill>
                  <a:srgbClr val="7A0019"/>
                </a:solidFill>
                <a:latin typeface="DejaVu Serif"/>
                <a:ea typeface="DejaVu Serif"/>
                <a:cs typeface="DejaVu Serif"/>
              </a:defRPr>
            </a:pPr>
            <a:r>
              <a:rPr sz="1875" b="0">
                <a:solidFill>
                  <a:srgbClr val="7A0019"/>
                </a:solidFill>
                <a:latin typeface="DejaVu Serif"/>
                <a:ea typeface="DejaVu Serif"/>
                <a:cs typeface="DejaVu Serif"/>
              </a:rPr>
              <a:t>riverbotagentics@gmail.com</a:t>
            </a:r>
          </a:p>
        </p:txBody>
      </p:sp>
    </p:spTree>
    <p:extLst>
      <p:ext uri="{BB962C8B-B14F-4D97-AF65-F5344CB8AC3E}">
        <p14:creationId xmlns:p14="http://schemas.microsoft.com/office/powerpoint/2010/main" val="14505002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2026-09-23T05:04:31.5350000Z</dcterms:created>
  <dcterms:modified xsi:type="dcterms:W3CDTF">2026-09-23T05:04:31.5350000Z</dcterms:modified>
</coreProperties>
</file>