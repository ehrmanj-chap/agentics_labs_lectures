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bc017e952a4ba7" /><Relationship Type="http://schemas.openxmlformats.org/officeDocument/2006/relationships/extended-properties" Target="/docProps/app.xml" Id="R85666328d31542e9" /><Relationship Type="http://schemas.openxmlformats.org/officeDocument/2006/relationships/officeDocument" Target="/ppt/presentation.xml" Id="R94a7afbc8e2743e2" /></Relationships>
</file>

<file path=ppt/presentation.xml><?xml version="1.0" encoding="utf-8"?>
<p:presentation xmlns:p="http://schemas.openxmlformats.org/presentationml/2006/main">
  <p:sldMasterIdLst>
    <p:sldMasterId xmlns:r="http://schemas.openxmlformats.org/officeDocument/2006/relationships" id="2147483648" r:id="Rbf73f08bef16415f"/>
  </p:sldMasterIdLst>
  <p:notesMasterIdLst>
    <p:notesMasterId xmlns:r="http://schemas.openxmlformats.org/officeDocument/2006/relationships" r:id="R0874d3f06580494b"/>
  </p:notesMasterIdLst>
  <p:sldIdLst>
    <p:sldId xmlns:r="http://schemas.openxmlformats.org/officeDocument/2006/relationships" id="256" r:id="Rb20d3e69c40c47d4"/>
    <p:sldId xmlns:r="http://schemas.openxmlformats.org/officeDocument/2006/relationships" id="257" r:id="R588966341dfb4715"/>
    <p:sldId xmlns:r="http://schemas.openxmlformats.org/officeDocument/2006/relationships" id="258" r:id="R90e577a9de3c4989"/>
    <p:sldId xmlns:r="http://schemas.openxmlformats.org/officeDocument/2006/relationships" id="259" r:id="R2ddc039a954346be"/>
    <p:sldId xmlns:r="http://schemas.openxmlformats.org/officeDocument/2006/relationships" id="260" r:id="Rbce9e54dbf3c4450"/>
    <p:sldId xmlns:r="http://schemas.openxmlformats.org/officeDocument/2006/relationships" id="261" r:id="R6706392432a64c6e"/>
    <p:sldId xmlns:r="http://schemas.openxmlformats.org/officeDocument/2006/relationships" id="262" r:id="Rb1880847c2e24c6f"/>
    <p:sldId xmlns:r="http://schemas.openxmlformats.org/officeDocument/2006/relationships" id="263" r:id="Rfe59aa4c4445454b"/>
    <p:sldId xmlns:r="http://schemas.openxmlformats.org/officeDocument/2006/relationships" id="264" r:id="R9688e41b754c48fc"/>
    <p:sldId xmlns:r="http://schemas.openxmlformats.org/officeDocument/2006/relationships" id="265" r:id="R7c04a4cb69d941fc"/>
    <p:sldId xmlns:r="http://schemas.openxmlformats.org/officeDocument/2006/relationships" id="266" r:id="Rdcae6ae8eb174b61"/>
    <p:sldId xmlns:r="http://schemas.openxmlformats.org/officeDocument/2006/relationships" id="267" r:id="R97ff89144afe4eb6"/>
    <p:sldId xmlns:r="http://schemas.openxmlformats.org/officeDocument/2006/relationships" id="268" r:id="R1c2c2e1453634d60"/>
    <p:sldId xmlns:r="http://schemas.openxmlformats.org/officeDocument/2006/relationships" id="269" r:id="R66c8221bce3648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aa5a9d423b4d66" /><Relationship Type="http://schemas.openxmlformats.org/officeDocument/2006/relationships/slideMaster" Target="/ppt/slideMasters/slideMaster1.xml" Id="Rbf73f08bef16415f" /><Relationship Type="http://schemas.openxmlformats.org/officeDocument/2006/relationships/notesMaster" Target="/ppt/notesMasters/notesMaster1.xml" Id="R0874d3f06580494b" /><Relationship Type="http://schemas.openxmlformats.org/officeDocument/2006/relationships/presProps" Target="/ppt/presProps.xml" Id="Rc73b4bda5126442e" /><Relationship Type="http://schemas.openxmlformats.org/officeDocument/2006/relationships/tableStyles" Target="/ppt/tableStyles.xml" Id="R1cfedba7d28b49c2" /><Relationship Type="http://schemas.openxmlformats.org/officeDocument/2006/relationships/slide" Target="/ppt/slides/slide1.xml" Id="Rb20d3e69c40c47d4" /><Relationship Type="http://schemas.openxmlformats.org/officeDocument/2006/relationships/slide" Target="/ppt/slides/slide2.xml" Id="R588966341dfb4715" /><Relationship Type="http://schemas.openxmlformats.org/officeDocument/2006/relationships/slide" Target="/ppt/slides/slide3.xml" Id="R90e577a9de3c4989" /><Relationship Type="http://schemas.openxmlformats.org/officeDocument/2006/relationships/slide" Target="/ppt/slides/slide4.xml" Id="R2ddc039a954346be" /><Relationship Type="http://schemas.openxmlformats.org/officeDocument/2006/relationships/slide" Target="/ppt/slides/slide5.xml" Id="Rbce9e54dbf3c4450" /><Relationship Type="http://schemas.openxmlformats.org/officeDocument/2006/relationships/slide" Target="/ppt/slides/slide6.xml" Id="R6706392432a64c6e" /><Relationship Type="http://schemas.openxmlformats.org/officeDocument/2006/relationships/slide" Target="/ppt/slides/slide7.xml" Id="Rb1880847c2e24c6f" /><Relationship Type="http://schemas.openxmlformats.org/officeDocument/2006/relationships/slide" Target="/ppt/slides/slide8.xml" Id="Rfe59aa4c4445454b" /><Relationship Type="http://schemas.openxmlformats.org/officeDocument/2006/relationships/slide" Target="/ppt/slides/slide9.xml" Id="R9688e41b754c48fc" /><Relationship Type="http://schemas.openxmlformats.org/officeDocument/2006/relationships/slide" Target="/ppt/slides/slide10.xml" Id="R7c04a4cb69d941fc" /><Relationship Type="http://schemas.openxmlformats.org/officeDocument/2006/relationships/slide" Target="/ppt/slides/slide11.xml" Id="Rdcae6ae8eb174b61" /><Relationship Type="http://schemas.openxmlformats.org/officeDocument/2006/relationships/slide" Target="/ppt/slides/slide12.xml" Id="R97ff89144afe4eb6" /><Relationship Type="http://schemas.openxmlformats.org/officeDocument/2006/relationships/slide" Target="/ppt/slides/slide13.xml" Id="R1c2c2e1453634d60" /><Relationship Type="http://schemas.openxmlformats.org/officeDocument/2006/relationships/slide" Target="/ppt/slides/slide14.xml" Id="R66c8221bce3648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894abcd73e4a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674fa3e4584cb8" /><Relationship Type="http://schemas.openxmlformats.org/officeDocument/2006/relationships/notesMaster" Target="/ppt/notesMasters/notesMaster1.xml" Id="Rf3cab553969a40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cdc1553562422f" /><Relationship Type="http://schemas.openxmlformats.org/officeDocument/2006/relationships/notesMaster" Target="/ppt/notesMasters/notesMaster1.xml" Id="R099805239d6747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fb4c2904ba4261" /><Relationship Type="http://schemas.openxmlformats.org/officeDocument/2006/relationships/notesMaster" Target="/ppt/notesMasters/notesMaster1.xml" Id="Re0ea3668b38c4b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69a3142f794603" /><Relationship Type="http://schemas.openxmlformats.org/officeDocument/2006/relationships/notesMaster" Target="/ppt/notesMasters/notesMaster1.xml" Id="R004f0320d63548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b0f9fd2a54129" /><Relationship Type="http://schemas.openxmlformats.org/officeDocument/2006/relationships/notesMaster" Target="/ppt/notesMasters/notesMaster1.xml" Id="R41bc5132814a48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66974405e9474e" /><Relationship Type="http://schemas.openxmlformats.org/officeDocument/2006/relationships/notesMaster" Target="/ppt/notesMasters/notesMaster1.xml" Id="R56049ffc31f948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542ea434e34442" /><Relationship Type="http://schemas.openxmlformats.org/officeDocument/2006/relationships/notesMaster" Target="/ppt/notesMasters/notesMaster1.xml" Id="R08d73338b45d42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90aa8a456564a85" /><Relationship Type="http://schemas.openxmlformats.org/officeDocument/2006/relationships/notesMaster" Target="/ppt/notesMasters/notesMaster1.xml" Id="Ra7047456f86641a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2474f3eacf4831" /><Relationship Type="http://schemas.openxmlformats.org/officeDocument/2006/relationships/notesMaster" Target="/ppt/notesMasters/notesMaster1.xml" Id="R54ede4bb56b64e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49f24e79f44d31" /><Relationship Type="http://schemas.openxmlformats.org/officeDocument/2006/relationships/notesMaster" Target="/ppt/notesMasters/notesMaster1.xml" Id="R19a4dac2e75045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93640f59ea047fc" /><Relationship Type="http://schemas.openxmlformats.org/officeDocument/2006/relationships/notesMaster" Target="/ppt/notesMasters/notesMaster1.xml" Id="Ra9c6cbff4d344a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6db374006fd40e7" /><Relationship Type="http://schemas.openxmlformats.org/officeDocument/2006/relationships/notesMaster" Target="/ppt/notesMasters/notesMaster1.xml" Id="R5b922e30e1cc40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8f4358e73a846af" /><Relationship Type="http://schemas.openxmlformats.org/officeDocument/2006/relationships/notesMaster" Target="/ppt/notesMasters/notesMaster1.xml" Id="R6297a472a5f649f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a04be1716514b08" /><Relationship Type="http://schemas.openxmlformats.org/officeDocument/2006/relationships/notesMaster" Target="/ppt/notesMasters/notesMaster1.xml" Id="R3d4d44240331485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everyone, I’m Jordan Ehrman from Riverbot Agentics. I’ll be around as your lab person this semester. You’ve just had a full session on prompting, so we’re going to put a bot to work and watch what happens when the world changes. Open PantherAI while we get settled. Timing: 30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get everybody onto PantherAI. Small naming trap: PantherBot answers campus-service questions. PantherAI is the model menu we want. Go to the login page, click Chapman SSO Login, and use your school account. Once inside, choose an available model and start a fresh chat. The exact models can change, so write down the full name you actually select. If you’re visiting without Chapman access, work with a partner or use a free chat account you already have. If login takes more than two minutes, pair up and keep moving. We have an offline version too. I verified the public login screen, not an authenticated student menu. Timing: allow 2–3 minutes.</a:t>
            </a:r>
          </a:p>
          <a:p xmlns:a="http://schemas.openxmlformats.org/drawingml/2006/main">
            <a:r>
              <a:t/>
            </a:r>
          </a:p>
          <a:p xmlns:a="http://schemas.openxmlformats.org/drawingml/2006/main">
            <a:r>
              <a:t>Sources (accessed September 22, 2026):</a:t>
            </a:r>
          </a:p>
          <a:p xmlns:a="http://schemas.openxmlformats.org/drawingml/2006/main">
            <a:r>
              <a:t>https://www.chapman.edu/campus-services/information-systems/research-technology-support/pantherai/index.aspx</a:t>
            </a:r>
          </a:p>
          <a:p xmlns:a="http://schemas.openxmlformats.org/drawingml/2006/main">
            <a:r>
              <a:t>https://pantherai.chapman.edu/login</a:t>
            </a:r>
          </a:p>
          <a:p xmlns:a="http://schemas.openxmlformats.org/drawingml/2006/main">
            <a:r>
              <a:t>https://libguides.chapman.edu/AI/approved_tools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Here’s the applied version in about a minute. PantherAI is the workspace. The model is the engine you select inside it. Tools are separate capabilities: searching, using a calculator, reading a file, sending something. A model name alone does not tell you which tools this app gives it. Chapman says live web access is not available by default, so don’t assume a confident answer means it checked the internet. Closed models keep their weights with the provider. Open-weight models let someone download and run the weights under a license. People often say open source, but the exact license and what gets released matter. LibreChat being open source does not make every model inside it open source. For today, choose an available model and get started. Timing: 60 seconds.</a:t>
            </a:r>
          </a:p>
          <a:p xmlns:a="http://schemas.openxmlformats.org/drawingml/2006/main">
            <a:r>
              <a:t/>
            </a:r>
          </a:p>
          <a:p xmlns:a="http://schemas.openxmlformats.org/drawingml/2006/main">
            <a:r>
              <a:t>Sources (accessed September 22, 2026):</a:t>
            </a:r>
          </a:p>
          <a:p xmlns:a="http://schemas.openxmlformats.org/drawingml/2006/main">
            <a:r>
              <a:t>https://www.chapman.edu/campus-services/information-systems/research-technology-support/pantherai/index.aspx</a:t>
            </a:r>
          </a:p>
          <a:p xmlns:a="http://schemas.openxmlformats.org/drawingml/2006/main">
            <a:r>
              <a:t>https://www.librechat.ai/</a:t>
            </a:r>
          </a:p>
          <a:p xmlns:a="http://schemas.openxmlformats.org/drawingml/2006/main">
            <a:r>
              <a:t>https://opensource.org/ai/open-source-ai-definition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dated snapshot, not a permanent podium. The bar shows LLM Stats’ composite benchmark score. The label shows its listed blended API price per million tokens. That is what an application operator might compare, not a bill for students. These are selected models from one cost-efficiency chart, not the PantherAI menu. Benchmarks help you shortlist. Your actual task tells you what works. The score is not a percent-correct measure. Pricing depends on provider and input/output mix. Timing: 30 seconds.</a:t>
            </a:r>
          </a:p>
          <a:p xmlns:a="http://schemas.openxmlformats.org/drawingml/2006/main">
            <a:r>
              <a:t/>
            </a:r>
          </a:p>
          <a:p xmlns:a="http://schemas.openxmlformats.org/drawingml/2006/main">
            <a:r>
              <a:t>Sources (accessed September 22, 2026):</a:t>
            </a:r>
          </a:p>
          <a:p xmlns:a="http://schemas.openxmlformats.org/drawingml/2006/main">
            <a:r>
              <a:t>https://llm-stats.com/models/qwen3-32b</a:t>
            </a:r>
          </a:p>
          <a:p xmlns:a="http://schemas.openxmlformats.org/drawingml/2006/main">
            <a:r>
              <a:t>https://llm-stats.com/methodology/llm-stats-score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Parameters are learned numerical weights. A B here means a billion parameters, not a billion facts. These three open-weight examples disclose their sizes. Mixture-of-experts models use a subset at each step: gpt-oss-120b lists 5.1B active out of 117B total, and DeepSeek-R1 lists 37B active out of 671B. This is why “bigger” is not a complete buying decision. Closed-model parameter counts are often undisclosed, so we leave them unknown. These examples illustrate architecture and are not the newest releases or a claim about what is available in PantherAI. Timing: 30 seconds.</a:t>
            </a:r>
          </a:p>
          <a:p xmlns:a="http://schemas.openxmlformats.org/drawingml/2006/main">
            <a:r>
              <a:t/>
            </a:r>
          </a:p>
          <a:p xmlns:a="http://schemas.openxmlformats.org/drawingml/2006/main">
            <a:r>
              <a:t>Sources (accessed September 22, 2026):</a:t>
            </a:r>
          </a:p>
          <a:p xmlns:a="http://schemas.openxmlformats.org/drawingml/2006/main">
            <a:r>
              <a:t>https://huggingface.co/Qwen/Qwen3-32B</a:t>
            </a:r>
          </a:p>
          <a:p xmlns:a="http://schemas.openxmlformats.org/drawingml/2006/main">
            <a:r>
              <a:t>https://huggingface.co/openai/gpt-oss-120b</a:t>
            </a:r>
          </a:p>
          <a:p xmlns:a="http://schemas.openxmlformats.org/drawingml/2006/main">
            <a:r>
              <a:t>https://huggingface.co/deepseek-ai/DeepSeek-R1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the tiny museum of instructions that technically survived contact with a bot. The user asks for a lamp name and gets Lumiflex. Then: “Give me 19.” The bot delivers nineteen. Singular. In numeral form. Let the class spot the missing noun before explaining. The context makes the likely intention understandable, and a more helpful bot could clarify. But the literal reading is right there. These are illustrative Reddit posts, not controlled model tests. We’re laughing at the gap, not the person. Timing: 45 seconds.</a:t>
            </a:r>
          </a:p>
          <a:p xmlns:a="http://schemas.openxmlformats.org/drawingml/2006/main">
            <a:r>
              <a:t/>
            </a:r>
          </a:p>
          <a:p xmlns:a="http://schemas.openxmlformats.org/drawingml/2006/main">
            <a:r>
              <a:t>Sources (accessed September 22, 2026):</a:t>
            </a:r>
          </a:p>
          <a:p xmlns:a="http://schemas.openxmlformats.org/drawingml/2006/main">
            <a:r>
              <a:t>https://www.reddit.com/r/ChatGPT/comments/1hgx336/19/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prioritize does, spectacularly, have the same meaning as prioritize. This is the technically-correct gremlin. Ask the room what unstated condition they automatically added. “A different word.” We should still expect a useful assistant to infer that. This example does not prove that synonyms never share meanings, despite some Reddit comments saying so. It shows how literal compliance and useful help can part ways. Timing: 45 seconds.</a:t>
            </a:r>
          </a:p>
          <a:p xmlns:a="http://schemas.openxmlformats.org/drawingml/2006/main">
            <a:r>
              <a:t/>
            </a:r>
          </a:p>
          <a:p xmlns:a="http://schemas.openxmlformats.org/drawingml/2006/main">
            <a:r>
              <a:t>Sources (accessed September 22, 2026):</a:t>
            </a:r>
          </a:p>
          <a:p xmlns:a="http://schemas.openxmlformats.org/drawingml/2006/main">
            <a:r>
              <a:t>https://www.reddit.com/r/ChatGPT/comments/1anff5w/incredible/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one was posted in r/ChatGPT, but the screenshot is Meta AI. Name that clearly. The user wanted a little more street around Santa and asked to zoom out. The bot went cosmic. The title itself admits “to be fair, Meta did listen.” It is a joke about missing scale, not evidence that an unrelated space image is a faithful camera zoom. If I tell an employee to reduce spending, they still need to know by how much and what must remain intact. Timing: 45 seconds.</a:t>
            </a:r>
          </a:p>
          <a:p xmlns:a="http://schemas.openxmlformats.org/drawingml/2006/main">
            <a:r>
              <a:t/>
            </a:r>
          </a:p>
          <a:p xmlns:a="http://schemas.openxmlformats.org/drawingml/2006/main">
            <a:r>
              <a:t>Sources (accessed September 22, 2026):</a:t>
            </a:r>
          </a:p>
          <a:p xmlns:a="http://schemas.openxmlformats.org/drawingml/2006/main">
            <a:r>
              <a:t>https://www.reddit.com/r/ChatGPT/comments/1hofvi0/when_i_said_zoom_out_please_i_was_wanting_to_see/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Here’s a quieter post, only about thirteen votes when retrieved. The user establishes a fortune-cookie role, gets several fortunes, then asks for tarot. The bot refuses because it is a fortune cookie. That’s an overly rigid role interpretation, and the claim that it is “not programmed” for tarot is not a reliable capability statement. The useful observation: earlier instructions can still influence the next turn. This post is titled malicious compliance and is playful, not a verified complaint about a defect. We have all been the person who assumes the new task erased the old context. Timing: 45 seconds.</a:t>
            </a:r>
          </a:p>
          <a:p xmlns:a="http://schemas.openxmlformats.org/drawingml/2006/main">
            <a:r>
              <a:t/>
            </a:r>
          </a:p>
          <a:p xmlns:a="http://schemas.openxmlformats.org/drawingml/2006/main">
            <a:r>
              <a:t>Sources (accessed September 22, 2026):</a:t>
            </a:r>
          </a:p>
          <a:p xmlns:a="http://schemas.openxmlformats.org/drawingml/2006/main">
            <a:r>
              <a:t>https://www.reddit.com/r/ChatGPT/comments/zgivfv/be_a_fortune_cookie_malicious_compliance/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let’s make this operational. A school wants 24 prints from a tiny museum. One system can tell us how to handle that. Another can check inventory when asked. An agent-style system can keep choosing the next step based on the result, up to a stopping rule. These are working classroom distinctions, not rigid product categories. One tool call alone doesn’t settle whether something is an agent. Open the Demo page and run the four beats. It is an explicitly scripted simulation, not live AI. For a live version, copy the starter into PantherAI and feed the observation cards. If the bot acts weird, lovely: that is data. Timing: 3 minutes including the demo.</a:t>
            </a:r>
          </a:p>
          <a:p xmlns:a="http://schemas.openxmlformats.org/drawingml/2006/main">
            <a:r>
              <a:t/>
            </a:r>
          </a:p>
          <a:p xmlns:a="http://schemas.openxmlformats.org/drawingml/2006/main">
            <a:r>
              <a:t>Sources (accessed September 22, 2026):</a:t>
            </a:r>
          </a:p>
          <a:p xmlns:a="http://schemas.openxmlformats.org/drawingml/2006/main">
            <a:r>
              <a:t>Original Beginner_Agentics_15_Week_Demo_Lab_Guide.docx, Week 1 (Aug 10, 2026)</a:t>
            </a:r>
          </a:p>
          <a:p xmlns:a="http://schemas.openxmlformats.org/drawingml/2006/main">
            <a:r>
              <a:t>https://www.anthropic.com/engineering/building-effective-agents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seven cards are goal, state, action, tool, observation, update, stop. Keep pointing to the current state: quantity, product, date, cost, approval. When the stock changes, the plan should change. When approval is missing, stopping is successful behavior. In this classroom setup a human performs the simulated tool work and returns the result. A deployed system would need connected tools, state management, and permission checks. It cannot order anything just because the chat says “ordered.” Timing: 45 seconds.</a:t>
            </a:r>
          </a:p>
          <a:p xmlns:a="http://schemas.openxmlformats.org/drawingml/2006/main">
            <a:r>
              <a:t/>
            </a:r>
          </a:p>
          <a:p xmlns:a="http://schemas.openxmlformats.org/drawingml/2006/main">
            <a:r>
              <a:t>Sources (accessed September 22, 2026):</a:t>
            </a:r>
          </a:p>
          <a:p xmlns:a="http://schemas.openxmlformats.org/drawingml/2006/main">
            <a:r>
              <a:t>Original Beginner_Agentics_15_Week_Demo_Lab_Guide.docx, Week 1</a:t>
            </a:r>
          </a:p>
          <a:p xmlns:a="http://schemas.openxmlformats.org/drawingml/2006/main">
            <a:r>
              <a:t>https://www.anthropic.com/engineering/building-effective-agents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lab page in this course pack. The starter is provided, so you do not need to invent a clever prompt. Your job is to notice what the system knows, which action it proposes, and whether it changes its plan when evidence changes. One person drives the bot, one supplies tool results, one audits. In pairs, combine roles. Work solo if that suits you. Use any available model. If you finish early, run the same initial request in a second model and compare. This adapts the original paper Human Agent Loop to a chosen chat model without moving Week 2’s prompt-debugging lab into Week 1. Timing: 45 seconds.</a:t>
            </a:r>
          </a:p>
          <a:p xmlns:a="http://schemas.openxmlformats.org/drawingml/2006/main">
            <a:r>
              <a:t/>
            </a:r>
          </a:p>
          <a:p xmlns:a="http://schemas.openxmlformats.org/drawingml/2006/main">
            <a:r>
              <a:t>Sources (accessed September 22, 2026):</a:t>
            </a:r>
          </a:p>
          <a:p xmlns:a="http://schemas.openxmlformats.org/drawingml/2006/main">
            <a:r>
              <a:t>Original Beginner_Agentics_15_Week_Demo_Lab_Guide.docx, Week 1</a:t>
            </a:r>
          </a:p>
          <a:p xmlns:a="http://schemas.openxmlformats.org/drawingml/2006/main">
            <a:r>
              <a:t>Original AI_Agents_Course_Syllabus (1).pdf, Week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deliverable is one page, not a novel. Show the goal, the changing state, at least two observations, a tool/action, and the stop condition. Include the model name and a short definition of what makes this system agentic. The transcript is supporting evidence, not the whole assignment. The worksheet saves on this browser and can be downloaded. Submit wherever your instructor tells you; this site does not collect submissions. No grade rubric is being imposed here. Timing: 30 seconds.</a:t>
            </a:r>
          </a:p>
          <a:p xmlns:a="http://schemas.openxmlformats.org/drawingml/2006/main">
            <a:r>
              <a:t/>
            </a:r>
          </a:p>
          <a:p xmlns:a="http://schemas.openxmlformats.org/drawingml/2006/main">
            <a:r>
              <a:t>Sources (accessed September 22, 2026):</a:t>
            </a:r>
          </a:p>
          <a:p xmlns:a="http://schemas.openxmlformats.org/drawingml/2006/main">
            <a:r>
              <a:t>Original Beginner_Agentics_15_Week_Demo_Lab_Guide.docx, Week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[Leave the WordArt up for a beat. Click “A quick thing before you go” to reveal contact text.] I’ll be giving these labs for at least this semester, so if you have questions about the labs or your general learning, please ask. That’s what I’m here for. If you want deeper help with a school project or something you’re hoping to monetize, Riverbot Agentics also does paid consulting. For graded work, that means coaching and technical support within your course rules, with the work still yours. Regular lab help is free. Okay, go work. I’ll come around and talk with each of you. Timing: 45 seconds.</a:t>
            </a:r>
          </a:p>
          <a:p xmlns:a="http://schemas.openxmlformats.org/drawingml/2006/main">
            <a:r>
              <a:t>Logo and contact: https://github.com/ehrmanj-chap/riverbot-agentics</a:t>
            </a:r>
          </a:p>
          <a:p xmlns:a="http://schemas.openxmlformats.org/drawingml/2006/main">
            <a:r>
              <a:t>WordArt generated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9aba4ea8ff40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9cd5223ef5428b" /><Relationship Type="http://schemas.openxmlformats.org/officeDocument/2006/relationships/slideLayout" Target="/ppt/slideLayouts/slideLayout1.xml" Id="Rcb35020700b84e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35020700b84e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d5fbcff3144ef2" /><Relationship Type="http://schemas.openxmlformats.org/officeDocument/2006/relationships/image" Target="/ppt/media/image.png" Id="Re0e5b49628c84bed" /><Relationship Type="http://schemas.openxmlformats.org/officeDocument/2006/relationships/notesSlide" Target="/ppt/notesSlides/notesSlide1.xml" Id="R402b4a7453cb4c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e9c99e723b4b9e" /><Relationship Type="http://schemas.openxmlformats.org/officeDocument/2006/relationships/notesSlide" Target="/ppt/notesSlides/notesSlide2.xml" Id="R13b05fc357b341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b7db30d4b3a4ff1" /><Relationship Type="http://schemas.openxmlformats.org/officeDocument/2006/relationships/notesSlide" Target="/ppt/notesSlides/notesSlide3.xml" Id="R8de3280c54134d8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715d951a847411e" /><Relationship Type="http://schemas.openxmlformats.org/officeDocument/2006/relationships/chart" Target="/ppt/slides/charts/chart1.xml" Id="R63e790bf399a464f" /><Relationship Type="http://schemas.openxmlformats.org/officeDocument/2006/relationships/notesSlide" Target="/ppt/notesSlides/notesSlide4.xml" Id="Rcfa8322679d84f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9d53824b9f486f" /><Relationship Type="http://schemas.openxmlformats.org/officeDocument/2006/relationships/chart" Target="/ppt/slides/charts/chart2.xml" Id="R851b7d8544e54fb2" /><Relationship Type="http://schemas.openxmlformats.org/officeDocument/2006/relationships/notesSlide" Target="/ppt/notesSlides/notesSlide5.xml" Id="R1443824d32b34e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89310a31c941fe" /><Relationship Type="http://schemas.openxmlformats.org/officeDocument/2006/relationships/image" Target="/ppt/media/image.jpeg" Id="Rafe753b5a4554333" /><Relationship Type="http://schemas.openxmlformats.org/officeDocument/2006/relationships/notesSlide" Target="/ppt/notesSlides/notesSlide6.xml" Id="Ra30e133971af41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526ba1c07c9422a" /><Relationship Type="http://schemas.openxmlformats.org/officeDocument/2006/relationships/image" Target="/ppt/media/image2.jpeg" Id="R21eca4e9d7d24700" /><Relationship Type="http://schemas.openxmlformats.org/officeDocument/2006/relationships/notesSlide" Target="/ppt/notesSlides/notesSlide7.xml" Id="R1f942785b69f42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bc771475c9b43d5" /><Relationship Type="http://schemas.openxmlformats.org/officeDocument/2006/relationships/image" Target="/ppt/media/image3.jpeg" Id="R9157be86789a4fe2" /><Relationship Type="http://schemas.openxmlformats.org/officeDocument/2006/relationships/notesSlide" Target="/ppt/notesSlides/notesSlide8.xml" Id="Rc2c79081f2244a0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91aa4786a04205" /><Relationship Type="http://schemas.openxmlformats.org/officeDocument/2006/relationships/image" Target="/ppt/media/image2.png" Id="Rb8a95a8c779448da" /><Relationship Type="http://schemas.openxmlformats.org/officeDocument/2006/relationships/notesSlide" Target="/ppt/notesSlides/notesSlide9.xml" Id="Rf3ec826f965249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f094476ff64b50" /><Relationship Type="http://schemas.openxmlformats.org/officeDocument/2006/relationships/notesSlide" Target="/ppt/notesSlides/notesSlide10.xml" Id="Rc2c3f9d716eb4b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1022c7a73834895" /><Relationship Type="http://schemas.openxmlformats.org/officeDocument/2006/relationships/notesSlide" Target="/ppt/notesSlides/notesSlide11.xml" Id="R985f32d8c9b249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506e6b1643740df" /><Relationship Type="http://schemas.openxmlformats.org/officeDocument/2006/relationships/notesSlide" Target="/ppt/notesSlides/notesSlide12.xml" Id="Rcb993c75b7d94c7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1a60f5662a84425" /><Relationship Type="http://schemas.openxmlformats.org/officeDocument/2006/relationships/notesSlide" Target="/ppt/notesSlides/notesSlide13.xml" Id="R76eed772d0554ae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80f053c59304015" /><Relationship Type="http://schemas.openxmlformats.org/officeDocument/2006/relationships/image" Target="/ppt/media/image3.png" Id="R0001229a5b3c4788" /><Relationship Type="http://schemas.openxmlformats.org/officeDocument/2006/relationships/notesSlide" Target="/ppt/notesSlides/notesSlide14.xml" Id="R2da681577b3448b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LLM Stats score</c:v>
          </c:tx>
          <c:spPr>
            <a:solidFill xmlns:a="http://schemas.openxmlformats.org/drawingml/2006/main">
              <a:srgbClr val="7A0019"/>
            </a:solidFill>
          </c:spPr>
          <c:cat>
            <c:strRef>
              <c:f>'Chart Data'!$A$2:$A$7</c:f>
              <c:strCache>
                <c:ptCount val="6"/>
                <c:pt idx="0">
                  <c:v>Gemma 4 E4B ($0.024)</c:v>
                </c:pt>
                <c:pt idx="1">
                  <c:v>GPT OSS 120B ($0.043)</c:v>
                </c:pt>
                <c:pt idx="2">
                  <c:v>DeepSeek V4 Flash 0731 ($0.066)</c:v>
                </c:pt>
                <c:pt idx="3">
                  <c:v>Qwen3 32B ($0.090)</c:v>
                </c:pt>
                <c:pt idx="4">
                  <c:v>DeepSeek V4.1 Flash ($0.240)</c:v>
                </c:pt>
                <c:pt idx="5">
                  <c:v>Claude Opus 5.5 ($4.760)</c:v>
                </c:pt>
              </c:strCache>
            </c:strRef>
          </c:cat>
          <c:val>
            <c:numRef>
              <c:f>'Chart Data'!$B$2:$B$7</c:f>
              <c:numCache>
                <c:formatCode>General</c:formatCode>
                <c:ptCount val="6"/>
                <c:pt idx="0">
                  <c:v>13.8</c:v>
                </c:pt>
                <c:pt idx="1">
                  <c:v>28.7</c:v>
                </c:pt>
                <c:pt idx="2">
                  <c:v>44.1</c:v>
                </c:pt>
                <c:pt idx="3">
                  <c:v>18.4</c:v>
                </c:pt>
                <c:pt idx="4">
                  <c:v>51.6</c:v>
                </c:pt>
                <c:pt idx="5">
                  <c:v>59.8</c:v>
                </c:pt>
              </c:numCache>
            </c:numRef>
          </c:val>
        </c:ser>
        <c:dLbls>
          <c:txPr>
            <a:bodyPr xmlns:a="http://schemas.openxmlformats.org/drawingml/2006/main" anchorCtr="1"/>
            <a:lstStyle xmlns:a="http://schemas.openxmlformats.org/drawingml/2006/main"/>
            <a:p xmlns:a="http://schemas.openxmlformats.org/drawingml/2006/main">
              <a:pPr>
                <a:defRPr sz="1500">
                  <a:latin typeface="DejaVu Sans"/>
                  <a:ea typeface="DejaVu Sans"/>
                  <a:cs typeface="DejaVu Sans"/>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majorGridlines>
          <c:spPr>
            <a:ln xmlns:a="http://schemas.openxmlformats.org/drawingml/2006/main" w="9525">
              <a:solidFill>
                <a:srgbClr val="DDDDDD"/>
              </a:solidFill>
            </a:ln>
          </c:spPr>
        </c:majorGridlines>
        <c:title>
          <c:tx>
            <c:rich>
              <a:bodyPr xmlns:a="http://schemas.openxmlformats.org/drawingml/2006/main"/>
              <a:lstStyle xmlns:a="http://schemas.openxmlformats.org/drawingml/2006/main"/>
              <a:p xmlns:a="http://schemas.openxmlformats.org/drawingml/2006/main">
                <a:r>
                  <a:rPr>
                    <a:latin typeface="DejaVu Sans"/>
                    <a:ea typeface="DejaVu Sans"/>
                    <a:cs typeface="DejaVu Sans"/>
                  </a:rPr>
                  <a:t>LLM Stats composite score</a:t>
                </a:r>
              </a:p>
            </c:rich>
          </c:tx>
          <c:overlay val="0"/>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DejaVu Sans"/>
                <a:ea typeface="DejaVu Sans"/>
                <a:cs typeface="DejaVu Sans"/>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Total parameters (billions)</c:v>
          </c:tx>
          <c:spPr>
            <a:solidFill xmlns:a="http://schemas.openxmlformats.org/drawingml/2006/main">
              <a:srgbClr val="7A0019"/>
            </a:solidFill>
          </c:spPr>
          <c:cat>
            <c:strRef>
              <c:f>'Chart Data'!$A$2:$A$4</c:f>
              <c:strCache>
                <c:ptCount val="3"/>
                <c:pt idx="0">
                  <c:v>Qwen3-32B</c:v>
                </c:pt>
                <c:pt idx="1">
                  <c:v>gpt-oss-120b</c:v>
                </c:pt>
                <c:pt idx="2">
                  <c:v>DeepSeek-R1</c:v>
                </c:pt>
              </c:strCache>
            </c:strRef>
          </c:cat>
          <c:val>
            <c:numRef>
              <c:f>'Chart Data'!$B$2:$B$4</c:f>
              <c:numCache>
                <c:formatCode>General</c:formatCode>
                <c:ptCount val="3"/>
                <c:pt idx="0">
                  <c:v>32.8</c:v>
                </c:pt>
                <c:pt idx="1">
                  <c:v>117</c:v>
                </c:pt>
                <c:pt idx="2">
                  <c:v>671</c:v>
                </c:pt>
              </c:numCache>
            </c:numRef>
          </c:val>
        </c:ser>
        <c:dLbls>
          <c:txPr>
            <a:bodyPr xmlns:a="http://schemas.openxmlformats.org/drawingml/2006/main" anchorCtr="1"/>
            <a:lstStyle xmlns:a="http://schemas.openxmlformats.org/drawingml/2006/main"/>
            <a:p xmlns:a="http://schemas.openxmlformats.org/drawingml/2006/main">
              <a:pPr>
                <a:defRPr sz="1650">
                  <a:latin typeface="DejaVu Sans"/>
                  <a:ea typeface="DejaVu Sans"/>
                  <a:cs typeface="DejaVu Sans"/>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DDDDDD"/>
              </a:solidFill>
            </a:ln>
          </c:spPr>
        </c:majorGridlines>
        <c:title>
          <c:tx>
            <c:rich>
              <a:bodyPr xmlns:a="http://schemas.openxmlformats.org/drawingml/2006/main"/>
              <a:lstStyle xmlns:a="http://schemas.openxmlformats.org/drawingml/2006/main"/>
              <a:p xmlns:a="http://schemas.openxmlformats.org/drawingml/2006/main">
                <a:r>
                  <a:rPr>
                    <a:latin typeface="DejaVu Sans"/>
                    <a:ea typeface="DejaVu Sans"/>
                    <a:cs typeface="DejaVu Sans"/>
                  </a:rPr>
                  <a:t>Total parameters (billions)</a:t>
                </a:r>
              </a:p>
            </c:rich>
          </c:tx>
          <c:overlay val="0"/>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DejaVu Sans"/>
                <a:ea typeface="DejaVu Sans"/>
                <a:cs typeface="DejaVu Sans"/>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DejaVu Sans"/>
                <a:ea typeface="DejaVu Sans"/>
                <a:cs typeface="DejaVu Sans"/>
              </a:defRPr>
            </a:pPr>
          </a:p>
        </c:txPr>
        <c:crossAx val="48650112"/>
        <c:crossBetween val="between"/>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7A001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5E4204-B9FE-47BB-8D24-04693F47FB54}"/>
              </a:ext>
            </a:extLst>
          </p:cNvPr>
          <p:cNvSpPr>
            <a:spLocks xmlns:a="http://schemas.openxmlformats.org/drawingml/2006/main" noGrp="1"/>
          </p:cNvSpPr>
          <p:nvPr/>
        </p:nvSpPr>
        <p:spPr>
          <a:xfrm xmlns:a="http://schemas.openxmlformats.org/drawingml/2006/main">
            <a:off x="609600" y="590550"/>
            <a:ext cx="571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LAB 1</a:t>
            </a:r>
          </a:p>
        </p:txBody>
      </p:sp>
      <p:sp>
        <p:nvSpPr>
          <p:cNvPr id="2" name="">
            <a:extLst xmlns:a="http://schemas.openxmlformats.org/drawingml/2006/main">
              <a:ext uri="{FF2B5EF4-FFF2-40B4-BE49-F238E27FC236}">
                <a16:creationId xmlns:a16="http://schemas.microsoft.com/office/drawing/2014/main" id="{D26C4A3F-DF6E-45C0-9457-BEE2FDE08374}"/>
              </a:ext>
            </a:extLst>
          </p:cNvPr>
          <p:cNvSpPr>
            <a:spLocks xmlns:a="http://schemas.openxmlformats.org/drawingml/2006/main" noGrp="1"/>
          </p:cNvSpPr>
          <p:nvPr/>
        </p:nvSpPr>
        <p:spPr>
          <a:xfrm xmlns:a="http://schemas.openxmlformats.org/drawingml/2006/main">
            <a:off x="609600" y="1714500"/>
            <a:ext cx="8001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DejaVu Serif"/>
                <a:ea typeface="DejaVu Serif"/>
                <a:cs typeface="DejaVu Serif"/>
              </a:defRPr>
            </a:pPr>
            <a:r>
              <a:rPr sz="5700" b="1">
                <a:solidFill>
                  <a:srgbClr val="FFFFFF"/>
                </a:solidFill>
                <a:latin typeface="DejaVu Serif"/>
                <a:ea typeface="DejaVu Serif"/>
                <a:cs typeface="DejaVu Serif"/>
              </a:rPr>
              <a:t>Human</a:t>
            </a:r>
          </a:p>
          <a:p xmlns:a="http://schemas.openxmlformats.org/drawingml/2006/main">
            <a:pPr>
              <a:defRPr sz="5700" b="1">
                <a:solidFill>
                  <a:srgbClr val="FFFFFF"/>
                </a:solidFill>
                <a:latin typeface="DejaVu Serif"/>
                <a:ea typeface="DejaVu Serif"/>
                <a:cs typeface="DejaVu Serif"/>
              </a:defRPr>
            </a:pPr>
            <a:r>
              <a:rPr sz="5700" b="1">
                <a:solidFill>
                  <a:srgbClr val="FFFFFF"/>
                </a:solidFill>
                <a:latin typeface="DejaVu Serif"/>
                <a:ea typeface="DejaVu Serif"/>
                <a:cs typeface="DejaVu Serif"/>
              </a:rPr>
              <a:t>Agent Loop</a:t>
            </a:r>
          </a:p>
        </p:txBody>
      </p:sp>
      <p:sp>
        <p:nvSpPr>
          <p:cNvPr id="3" name="">
            <a:extLst xmlns:a="http://schemas.openxmlformats.org/drawingml/2006/main">
              <a:ext uri="{FF2B5EF4-FFF2-40B4-BE49-F238E27FC236}">
                <a16:creationId xmlns:a16="http://schemas.microsoft.com/office/drawing/2014/main" id="{74AE1BC1-8205-4F54-9F5D-1DFE9FCC35B6}"/>
              </a:ext>
            </a:extLst>
          </p:cNvPr>
          <p:cNvSpPr>
            <a:spLocks xmlns:a="http://schemas.openxmlformats.org/drawingml/2006/main" noGrp="1"/>
          </p:cNvSpPr>
          <p:nvPr/>
        </p:nvSpPr>
        <p:spPr>
          <a:xfrm xmlns:a="http://schemas.openxmlformats.org/drawingml/2006/main">
            <a:off x="647700" y="4524375"/>
            <a:ext cx="714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DejaVu Serif"/>
                <a:ea typeface="DejaVu Serif"/>
                <a:cs typeface="DejaVu Serif"/>
              </a:defRPr>
            </a:pPr>
            <a:r>
              <a:rPr sz="2550" b="1">
                <a:solidFill>
                  <a:srgbClr val="FFFFFF"/>
                </a:solidFill>
                <a:latin typeface="DejaVu Serif"/>
                <a:ea typeface="DejaVu Serif"/>
                <a:cs typeface="DejaVu Serif"/>
              </a:rPr>
              <a:t>Jordan Ehrman</a:t>
            </a:r>
          </a:p>
        </p:txBody>
      </p:sp>
      <p:sp>
        <p:nvSpPr>
          <p:cNvPr id="4" name="">
            <a:extLst xmlns:a="http://schemas.openxmlformats.org/drawingml/2006/main">
              <a:ext uri="{FF2B5EF4-FFF2-40B4-BE49-F238E27FC236}">
                <a16:creationId xmlns:a16="http://schemas.microsoft.com/office/drawing/2014/main" id="{8FB82C43-C48B-4D26-AA52-A04CCABDF11D}"/>
              </a:ext>
            </a:extLst>
          </p:cNvPr>
          <p:cNvSpPr>
            <a:spLocks xmlns:a="http://schemas.openxmlformats.org/drawingml/2006/main" noGrp="1"/>
          </p:cNvSpPr>
          <p:nvPr/>
        </p:nvSpPr>
        <p:spPr>
          <a:xfrm xmlns:a="http://schemas.openxmlformats.org/drawingml/2006/main">
            <a:off x="647700" y="50482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DejaVu Serif"/>
                <a:ea typeface="DejaVu Serif"/>
                <a:cs typeface="DejaVu Serif"/>
              </a:defRPr>
            </a:pPr>
            <a:r>
              <a:rPr sz="2025" b="0">
                <a:solidFill>
                  <a:srgbClr val="FFFFFF"/>
                </a:solidFill>
                <a:latin typeface="DejaVu Serif"/>
                <a:ea typeface="DejaVu Serif"/>
                <a:cs typeface="DejaVu Serif"/>
              </a:rPr>
              <a:t>Riverbot Agentics</a:t>
            </a:r>
          </a:p>
        </p:txBody>
      </p:sp>
      <p:sp>
        <p:nvSpPr>
          <p:cNvPr id="5" name="">
            <a:extLst xmlns:a="http://schemas.openxmlformats.org/drawingml/2006/main">
              <a:ext uri="{FF2B5EF4-FFF2-40B4-BE49-F238E27FC236}">
                <a16:creationId xmlns:a16="http://schemas.microsoft.com/office/drawing/2014/main" id="{1F895913-EA4D-41CF-9545-2975256B0BB9}"/>
              </a:ext>
            </a:extLst>
          </p:cNvPr>
          <p:cNvSpPr>
            <a:spLocks xmlns:a="http://schemas.openxmlformats.org/drawingml/2006/main" noGrp="1"/>
          </p:cNvSpPr>
          <p:nvPr/>
        </p:nvSpPr>
        <p:spPr>
          <a:xfrm xmlns:a="http://schemas.openxmlformats.org/drawingml/2006/main">
            <a:off x="647700" y="57150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DejaVu Serif"/>
                <a:ea typeface="DejaVu Serif"/>
                <a:cs typeface="DejaVu Serif"/>
              </a:defRPr>
            </a:pPr>
            <a:r>
              <a:rPr sz="1650" b="0">
                <a:solidFill>
                  <a:srgbClr val="FFFFFF"/>
                </a:solidFill>
                <a:latin typeface="DejaVu Serif"/>
                <a:ea typeface="DejaVu Serif"/>
                <a:cs typeface="DejaVu Serif"/>
              </a:rPr>
              <a:t>Business students + anyone curious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0e5b49628c84bed"/>
          <a:stretch xmlns:a="http://schemas.openxmlformats.org/drawingml/2006/main"/>
        </p:blipFill>
        <p:spPr>
          <a:xfrm xmlns:a="http://schemas.openxmlformats.org/drawingml/2006/main">
            <a:off x="8810625" y="1571625"/>
            <a:ext cx="2857500" cy="2857500"/>
          </a:xfrm>
          <a:prstGeom xmlns:a="http://schemas.openxmlformats.org/drawingml/2006/main" prst="rect">
            <a:avLst/>
          </a:prstGeom>
        </p:spPr>
      </p:pic>
    </p:spTree>
    <p:extLst>
      <p:ext uri="{BB962C8B-B14F-4D97-AF65-F5344CB8AC3E}">
        <p14:creationId xmlns:p14="http://schemas.microsoft.com/office/powerpoint/2010/main" val="6539144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23B800-EB89-40FB-A96B-7C5C5DFF6900}"/>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Your bot for today</a:t>
            </a:r>
          </a:p>
        </p:txBody>
      </p:sp>
      <p:sp>
        <p:nvSpPr>
          <p:cNvPr id="2" name="">
            <a:extLst xmlns:a="http://schemas.openxmlformats.org/drawingml/2006/main">
              <a:ext uri="{FF2B5EF4-FFF2-40B4-BE49-F238E27FC236}">
                <a16:creationId xmlns:a16="http://schemas.microsoft.com/office/drawing/2014/main" id="{6E6D97D2-E097-4FDC-96B2-E5AD0FE7DC75}"/>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880807F1-EA76-4A5D-8CCE-D07CD5543E5B}"/>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AC6637EE-A024-47A3-B576-3697751DD264}"/>
              </a:ext>
            </a:extLst>
          </p:cNvPr>
          <p:cNvSpPr>
            <a:spLocks xmlns:a="http://schemas.openxmlformats.org/drawingml/2006/main" noGrp="1"/>
          </p:cNvSpPr>
          <p:nvPr/>
        </p:nvSpPr>
        <p:spPr>
          <a:xfrm xmlns:a="http://schemas.openxmlformats.org/drawingml/2006/main">
            <a:off x="609600" y="153352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7A0019"/>
                </a:solidFill>
                <a:latin typeface="DejaVu Sans"/>
                <a:ea typeface="DejaVu Sans"/>
                <a:cs typeface="DejaVu Sans"/>
              </a:defRPr>
            </a:pPr>
            <a:r>
              <a:rPr sz="3450" b="1">
                <a:solidFill>
                  <a:srgbClr val="7A0019"/>
                </a:solidFill>
                <a:latin typeface="DejaVu Sans"/>
                <a:ea typeface="DejaVu Sans"/>
                <a:cs typeface="DejaVu Sans"/>
              </a:rPr>
              <a:t>pantherai.chapman.edu/login</a:t>
            </a:r>
          </a:p>
        </p:txBody>
      </p:sp>
      <p:sp>
        <p:nvSpPr>
          <p:cNvPr id="5" name="">
            <a:extLst xmlns:a="http://schemas.openxmlformats.org/drawingml/2006/main">
              <a:ext uri="{FF2B5EF4-FFF2-40B4-BE49-F238E27FC236}">
                <a16:creationId xmlns:a16="http://schemas.microsoft.com/office/drawing/2014/main" id="{ADEEF53B-ED15-445E-8199-BFEAB4C4D644}"/>
              </a:ext>
            </a:extLst>
          </p:cNvPr>
          <p:cNvSpPr>
            <a:spLocks xmlns:a="http://schemas.openxmlformats.org/drawingml/2006/main" noGrp="1"/>
          </p:cNvSpPr>
          <p:nvPr/>
        </p:nvSpPr>
        <p:spPr>
          <a:xfrm xmlns:a="http://schemas.openxmlformats.org/drawingml/2006/main">
            <a:off x="609600" y="2657475"/>
            <a:ext cx="107632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222"/>
                </a:solidFill>
                <a:latin typeface="DejaVu Serif"/>
                <a:ea typeface="DejaVu Serif"/>
                <a:cs typeface="DejaVu Serif"/>
              </a:defRPr>
            </a:pPr>
            <a:r>
              <a:rPr sz="2400" b="0">
                <a:solidFill>
                  <a:srgbClr val="222222"/>
                </a:solidFill>
                <a:latin typeface="DejaVu Serif"/>
                <a:ea typeface="DejaVu Serif"/>
                <a:cs typeface="DejaVu Serif"/>
              </a:rPr>
              <a:t>1.  Choose “Chapman SSO Login”</a:t>
            </a:r>
          </a:p>
          <a:p xmlns:a="http://schemas.openxmlformats.org/drawingml/2006/main">
            <a:r>
              <a:t/>
            </a:r>
          </a:p>
          <a:p xmlns:a="http://schemas.openxmlformats.org/drawingml/2006/main">
            <a:pPr>
              <a:defRPr sz="2400" b="0">
                <a:solidFill>
                  <a:srgbClr val="222222"/>
                </a:solidFill>
                <a:latin typeface="DejaVu Serif"/>
                <a:ea typeface="DejaVu Serif"/>
                <a:cs typeface="DejaVu Serif"/>
              </a:defRPr>
            </a:pPr>
            <a:r>
              <a:rPr sz="2400" b="0">
                <a:solidFill>
                  <a:srgbClr val="222222"/>
                </a:solidFill>
                <a:latin typeface="DejaVu Serif"/>
                <a:ea typeface="DejaVu Serif"/>
                <a:cs typeface="DejaVu Serif"/>
              </a:rPr>
              <a:t>2.  Sign in with your Chapman account</a:t>
            </a:r>
          </a:p>
          <a:p xmlns:a="http://schemas.openxmlformats.org/drawingml/2006/main">
            <a:r>
              <a:t/>
            </a:r>
          </a:p>
          <a:p xmlns:a="http://schemas.openxmlformats.org/drawingml/2006/main">
            <a:pPr>
              <a:defRPr sz="2400" b="0">
                <a:solidFill>
                  <a:srgbClr val="222222"/>
                </a:solidFill>
                <a:latin typeface="DejaVu Serif"/>
                <a:ea typeface="DejaVu Serif"/>
                <a:cs typeface="DejaVu Serif"/>
              </a:defRPr>
            </a:pPr>
            <a:r>
              <a:rPr sz="2400" b="0">
                <a:solidFill>
                  <a:srgbClr val="222222"/>
                </a:solidFill>
                <a:latin typeface="DejaVu Serif"/>
                <a:ea typeface="DejaVu Serif"/>
                <a:cs typeface="DejaVu Serif"/>
              </a:rPr>
              <a:t>3.  Start a new chat. Pick an available model.</a:t>
            </a:r>
          </a:p>
        </p:txBody>
      </p:sp>
      <p:sp>
        <p:nvSpPr>
          <p:cNvPr id="6" name="">
            <a:extLst xmlns:a="http://schemas.openxmlformats.org/drawingml/2006/main">
              <a:ext uri="{FF2B5EF4-FFF2-40B4-BE49-F238E27FC236}">
                <a16:creationId xmlns:a16="http://schemas.microsoft.com/office/drawing/2014/main" id="{78658A20-CD7D-48A2-8EE6-580C3459EA1D}"/>
              </a:ext>
            </a:extLst>
          </p:cNvPr>
          <p:cNvSpPr>
            <a:spLocks xmlns:a="http://schemas.openxmlformats.org/drawingml/2006/main" noGrp="1"/>
          </p:cNvSpPr>
          <p:nvPr/>
        </p:nvSpPr>
        <p:spPr>
          <a:xfrm xmlns:a="http://schemas.openxmlformats.org/drawingml/2006/main">
            <a:off x="609600" y="5429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A0019"/>
                </a:solidFill>
                <a:latin typeface="DejaVu Sans"/>
                <a:ea typeface="DejaVu Sans"/>
                <a:cs typeface="DejaVu Sans"/>
              </a:defRPr>
            </a:pPr>
            <a:r>
              <a:rPr sz="1875" b="0">
                <a:solidFill>
                  <a:srgbClr val="7A0019"/>
                </a:solidFill>
                <a:latin typeface="DejaVu Sans"/>
                <a:ea typeface="DejaVu Sans"/>
                <a:cs typeface="DejaVu Sans"/>
              </a:rPr>
              <a:t>Free for active Chapman students, faculty and staff. No personal paid plan needed for this lab.</a:t>
            </a:r>
          </a:p>
        </p:txBody>
      </p:sp>
    </p:spTree>
    <p:extLst>
      <p:ext uri="{BB962C8B-B14F-4D97-AF65-F5344CB8AC3E}">
        <p14:creationId xmlns:p14="http://schemas.microsoft.com/office/powerpoint/2010/main" val="9757446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C2C3FE3-A2E6-45B3-98DB-3F6F8041A365}"/>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One portal, several models</a:t>
            </a:r>
          </a:p>
        </p:txBody>
      </p:sp>
      <p:sp>
        <p:nvSpPr>
          <p:cNvPr id="2" name="">
            <a:extLst xmlns:a="http://schemas.openxmlformats.org/drawingml/2006/main">
              <a:ext uri="{FF2B5EF4-FFF2-40B4-BE49-F238E27FC236}">
                <a16:creationId xmlns:a16="http://schemas.microsoft.com/office/drawing/2014/main" id="{2D1D460D-2C68-4879-9501-0E478C8D56D1}"/>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9F04993E-377A-420A-AFEF-5B8CC3BFF8AB}"/>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9BB55777-3801-49F8-8E7B-F9D15CB75430}"/>
              </a:ext>
            </a:extLst>
          </p:cNvPr>
          <p:cNvSpPr>
            <a:spLocks xmlns:a="http://schemas.openxmlformats.org/drawingml/2006/main" noGrp="1"/>
          </p:cNvSpPr>
          <p:nvPr/>
        </p:nvSpPr>
        <p:spPr>
          <a:xfrm xmlns:a="http://schemas.openxmlformats.org/drawingml/2006/main">
            <a:off x="609600" y="1619250"/>
            <a:ext cx="108585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The app is the workspace: PantherAI / LibreChat.</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The model is the engine: GPT, Claude, Gemini, or another available option.</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Tools give the system ways to look things up or act.</a:t>
            </a:r>
          </a:p>
        </p:txBody>
      </p:sp>
      <p:sp>
        <p:nvSpPr>
          <p:cNvPr id="5" name="">
            <a:extLst xmlns:a="http://schemas.openxmlformats.org/drawingml/2006/main">
              <a:ext uri="{FF2B5EF4-FFF2-40B4-BE49-F238E27FC236}">
                <a16:creationId xmlns:a16="http://schemas.microsoft.com/office/drawing/2014/main" id="{B03D7F01-2FDE-4B29-91C5-55E7532138BF}"/>
              </a:ext>
            </a:extLst>
          </p:cNvPr>
          <p:cNvSpPr>
            <a:spLocks xmlns:a="http://schemas.openxmlformats.org/drawingml/2006/main" noGrp="1"/>
          </p:cNvSpPr>
          <p:nvPr/>
        </p:nvSpPr>
        <p:spPr>
          <a:xfrm xmlns:a="http://schemas.openxmlformats.org/drawingml/2006/main">
            <a:off x="609600" y="481012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7A0019"/>
                </a:solidFill>
                <a:latin typeface="DejaVu Serif"/>
                <a:ea typeface="DejaVu Serif"/>
                <a:cs typeface="DejaVu Serif"/>
              </a:defRPr>
            </a:pPr>
            <a:r>
              <a:rPr sz="2100" b="0">
                <a:solidFill>
                  <a:srgbClr val="7A0019"/>
                </a:solidFill>
                <a:latin typeface="DejaVu Serif"/>
                <a:ea typeface="DejaVu Serif"/>
                <a:cs typeface="DejaVu Serif"/>
              </a:rPr>
              <a:t>Closed models: provider hosts the weights. Open weights: downloadable under a license; running them still costs resources.</a:t>
            </a:r>
          </a:p>
        </p:txBody>
      </p:sp>
    </p:spTree>
    <p:extLst>
      <p:ext uri="{BB962C8B-B14F-4D97-AF65-F5344CB8AC3E}">
        <p14:creationId xmlns:p14="http://schemas.microsoft.com/office/powerpoint/2010/main" val="13138121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8D7B37-D4C5-4E1A-A695-86289A8BE2EB}"/>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Ability and price vary</a:t>
            </a:r>
          </a:p>
        </p:txBody>
      </p:sp>
      <p:sp>
        <p:nvSpPr>
          <p:cNvPr id="2" name="">
            <a:extLst xmlns:a="http://schemas.openxmlformats.org/drawingml/2006/main">
              <a:ext uri="{FF2B5EF4-FFF2-40B4-BE49-F238E27FC236}">
                <a16:creationId xmlns:a16="http://schemas.microsoft.com/office/drawing/2014/main" id="{EB8F2291-12B2-474D-9C7C-86FFEFDD1742}"/>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BF1825DF-9276-44E9-B033-9B98A5E7E453}"/>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04</a:t>
            </a:r>
          </a:p>
        </p:txBody>
      </p:sp>
      <p:graphicFrame>
        <p:nvGraphicFramePr>
          <p:cNvPr id="10" name="Chart"/>
          <p:cNvGraphicFramePr/>
          <p:nvPr/>
        </p:nvGraphicFramePr>
        <p:xfrm>
          <a:off xmlns:a="http://schemas.openxmlformats.org/drawingml/2006/main" x="666750" y="1562100"/>
          <a:ext xmlns:a="http://schemas.openxmlformats.org/drawingml/2006/main" cx="10572750" cy="3857625"/>
        </p:xfrm>
        <a:graphic xmlns:a="http://schemas.openxmlformats.org/drawingml/2006/main">
          <a:graphicData uri="http://schemas.openxmlformats.org/drawingml/2006/chart">
            <c:chart xmlns:r="http://schemas.openxmlformats.org/officeDocument/2006/relationships" xmlns:c="http://schemas.openxmlformats.org/drawingml/2006/chart" r:id="R63e790bf399a464f"/>
          </a:graphicData>
        </a:graphic>
      </p:graphicFrame>
      <p:sp>
        <p:nvSpPr>
          <p:cNvPr id="5" name="">
            <a:extLst xmlns:a="http://schemas.openxmlformats.org/drawingml/2006/main">
              <a:ext uri="{FF2B5EF4-FFF2-40B4-BE49-F238E27FC236}">
                <a16:creationId xmlns:a16="http://schemas.microsoft.com/office/drawing/2014/main" id="{187FACB7-96A2-4A0F-BC4C-58BDB1017138}"/>
              </a:ext>
            </a:extLst>
          </p:cNvPr>
          <p:cNvSpPr>
            <a:spLocks xmlns:a="http://schemas.openxmlformats.org/drawingml/2006/main" noGrp="1"/>
          </p:cNvSpPr>
          <p:nvPr/>
        </p:nvSpPr>
        <p:spPr>
          <a:xfrm xmlns:a="http://schemas.openxmlformats.org/drawingml/2006/main">
            <a:off x="571500" y="55149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22222"/>
                </a:solidFill>
                <a:latin typeface="DejaVu Serif"/>
                <a:ea typeface="DejaVu Serif"/>
                <a:cs typeface="DejaVu Serif"/>
              </a:defRPr>
            </a:pPr>
            <a:r>
              <a:rPr sz="1650" b="0">
                <a:solidFill>
                  <a:srgbClr val="222222"/>
                </a:solidFill>
                <a:latin typeface="DejaVu Serif"/>
                <a:ea typeface="DejaVu Serif"/>
                <a:cs typeface="DejaVu Serif"/>
              </a:rPr>
              <a:t>Labels: blended API USD / 1M tokens. Scores are not percentages.</a:t>
            </a:r>
          </a:p>
        </p:txBody>
      </p:sp>
      <p:sp>
        <p:nvSpPr>
          <p:cNvPr id="6" name="">
            <a:extLst xmlns:a="http://schemas.openxmlformats.org/drawingml/2006/main">
              <a:ext uri="{FF2B5EF4-FFF2-40B4-BE49-F238E27FC236}">
                <a16:creationId xmlns:a16="http://schemas.microsoft.com/office/drawing/2014/main" id="{8808E564-D0B4-455B-81E2-2D50CD526293}"/>
              </a:ext>
            </a:extLst>
          </p:cNvPr>
          <p:cNvSpPr>
            <a:spLocks xmlns:a="http://schemas.openxmlformats.org/drawingml/2006/main" noGrp="1"/>
          </p:cNvSpPr>
          <p:nvPr/>
        </p:nvSpPr>
        <p:spPr>
          <a:xfrm xmlns:a="http://schemas.openxmlformats.org/drawingml/2006/main">
            <a:off x="571500" y="590550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D5D5D"/>
                </a:solidFill>
                <a:latin typeface="DejaVu Sans"/>
                <a:ea typeface="DejaVu Sans"/>
                <a:cs typeface="DejaVu Sans"/>
              </a:defRPr>
            </a:pPr>
            <a:r>
              <a:rPr sz="1350" b="0">
                <a:solidFill>
                  <a:srgbClr val="5D5D5D"/>
                </a:solidFill>
                <a:latin typeface="DejaVu Sans"/>
                <a:ea typeface="DejaVu Sans"/>
                <a:cs typeface="DejaVu Sans"/>
              </a:rPr>
              <a:t>Selected LLM Stats cost-efficiency data · 22 Sep 2026 · PantherAI is free to students</a:t>
            </a:r>
          </a:p>
        </p:txBody>
      </p:sp>
    </p:spTree>
    <p:extLst>
      <p:ext uri="{BB962C8B-B14F-4D97-AF65-F5344CB8AC3E}">
        <p14:creationId xmlns:p14="http://schemas.microsoft.com/office/powerpoint/2010/main" val="1678947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81C80B-D2EC-42AE-9E07-4BC9546A00E0}"/>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“Size” needs a little context</a:t>
            </a:r>
          </a:p>
        </p:txBody>
      </p:sp>
      <p:sp>
        <p:nvSpPr>
          <p:cNvPr id="2" name="">
            <a:extLst xmlns:a="http://schemas.openxmlformats.org/drawingml/2006/main">
              <a:ext uri="{FF2B5EF4-FFF2-40B4-BE49-F238E27FC236}">
                <a16:creationId xmlns:a16="http://schemas.microsoft.com/office/drawing/2014/main" id="{525FA462-32F1-4D1A-8E38-0811F85C13F6}"/>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67F51D71-D9D6-4823-9F83-CFC70EB4077B}"/>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05</a:t>
            </a:r>
          </a:p>
        </p:txBody>
      </p:sp>
      <p:graphicFrame>
        <p:nvGraphicFramePr>
          <p:cNvPr id="10" name="Chart"/>
          <p:cNvGraphicFramePr/>
          <p:nvPr/>
        </p:nvGraphicFramePr>
        <p:xfrm>
          <a:off xmlns:a="http://schemas.openxmlformats.org/drawingml/2006/main" x="685800" y="1600200"/>
          <a:ext xmlns:a="http://schemas.openxmlformats.org/drawingml/2006/main" cx="10363200" cy="3562350"/>
        </p:xfrm>
        <a:graphic xmlns:a="http://schemas.openxmlformats.org/drawingml/2006/main">
          <a:graphicData uri="http://schemas.openxmlformats.org/drawingml/2006/chart">
            <c:chart xmlns:r="http://schemas.openxmlformats.org/officeDocument/2006/relationships" xmlns:c="http://schemas.openxmlformats.org/drawingml/2006/chart" r:id="R851b7d8544e54fb2"/>
          </a:graphicData>
        </a:graphic>
      </p:graphicFrame>
      <p:sp>
        <p:nvSpPr>
          <p:cNvPr id="5" name="">
            <a:extLst xmlns:a="http://schemas.openxmlformats.org/drawingml/2006/main">
              <a:ext uri="{FF2B5EF4-FFF2-40B4-BE49-F238E27FC236}">
                <a16:creationId xmlns:a16="http://schemas.microsoft.com/office/drawing/2014/main" id="{60127101-21C1-4632-93F3-88EF97FFBD61}"/>
              </a:ext>
            </a:extLst>
          </p:cNvPr>
          <p:cNvSpPr>
            <a:spLocks xmlns:a="http://schemas.openxmlformats.org/drawingml/2006/main" noGrp="1"/>
          </p:cNvSpPr>
          <p:nvPr/>
        </p:nvSpPr>
        <p:spPr>
          <a:xfrm xmlns:a="http://schemas.openxmlformats.org/drawingml/2006/main">
            <a:off x="571500" y="5324475"/>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222"/>
                </a:solidFill>
                <a:latin typeface="DejaVu Serif"/>
                <a:ea typeface="DejaVu Serif"/>
                <a:cs typeface="DejaVu Serif"/>
              </a:defRPr>
            </a:pPr>
            <a:r>
              <a:rPr sz="1950" b="0">
                <a:solidFill>
                  <a:srgbClr val="222222"/>
                </a:solidFill>
                <a:latin typeface="DejaVu Serif"/>
                <a:ea typeface="DejaVu Serif"/>
                <a:cs typeface="DejaVu Serif"/>
              </a:rPr>
              <a:t>Active subset: gpt-oss-120b 5.1B / DeepSeek-R1 37B</a:t>
            </a:r>
          </a:p>
        </p:txBody>
      </p:sp>
      <p:sp>
        <p:nvSpPr>
          <p:cNvPr id="6" name="">
            <a:extLst xmlns:a="http://schemas.openxmlformats.org/drawingml/2006/main">
              <a:ext uri="{FF2B5EF4-FFF2-40B4-BE49-F238E27FC236}">
                <a16:creationId xmlns:a16="http://schemas.microsoft.com/office/drawing/2014/main" id="{3E1F5DBB-D91C-4258-AFD7-802E24D0775C}"/>
              </a:ext>
            </a:extLst>
          </p:cNvPr>
          <p:cNvSpPr>
            <a:spLocks xmlns:a="http://schemas.openxmlformats.org/drawingml/2006/main" noGrp="1"/>
          </p:cNvSpPr>
          <p:nvPr/>
        </p:nvSpPr>
        <p:spPr>
          <a:xfrm xmlns:a="http://schemas.openxmlformats.org/drawingml/2006/main">
            <a:off x="571500" y="584835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D5D5D"/>
                </a:solidFill>
                <a:latin typeface="DejaVu Sans"/>
                <a:ea typeface="DejaVu Sans"/>
                <a:cs typeface="DejaVu Sans"/>
              </a:defRPr>
            </a:pPr>
            <a:r>
              <a:rPr sz="1650" b="0">
                <a:solidFill>
                  <a:srgbClr val="5D5D5D"/>
                </a:solidFill>
                <a:latin typeface="DejaVu Sans"/>
                <a:ea typeface="DejaVu Sans"/>
                <a:cs typeface="DejaVu Sans"/>
              </a:rPr>
              <a:t>Size alone does not rank quality. Closed-model sizes often remain undisclosed.</a:t>
            </a:r>
          </a:p>
        </p:txBody>
      </p:sp>
    </p:spTree>
    <p:extLst>
      <p:ext uri="{BB962C8B-B14F-4D97-AF65-F5344CB8AC3E}">
        <p14:creationId xmlns:p14="http://schemas.microsoft.com/office/powerpoint/2010/main" val="19402704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2E4F04F-1E46-465C-A8F7-64A7B8367E33}"/>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Nineteen what, exactly?</a:t>
            </a:r>
          </a:p>
        </p:txBody>
      </p:sp>
      <p:sp>
        <p:nvSpPr>
          <p:cNvPr id="2" name="">
            <a:extLst xmlns:a="http://schemas.openxmlformats.org/drawingml/2006/main">
              <a:ext uri="{FF2B5EF4-FFF2-40B4-BE49-F238E27FC236}">
                <a16:creationId xmlns:a16="http://schemas.microsoft.com/office/drawing/2014/main" id="{84F6B6DE-1D6E-49FE-AA4C-ACAB0B636713}"/>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549098B0-DE58-46DC-8927-3D1EF1D00BA8}"/>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fe753b5a4554333"/>
          <a:stretch xmlns:a="http://schemas.openxmlformats.org/drawingml/2006/main"/>
        </p:blipFill>
        <p:spPr>
          <a:xfrm xmlns:a="http://schemas.openxmlformats.org/drawingml/2006/main">
            <a:off x="1614659" y="1476375"/>
            <a:ext cx="4104932" cy="445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EB7D518-57C4-4514-8E28-346401FD05CF}"/>
              </a:ext>
            </a:extLst>
          </p:cNvPr>
          <p:cNvSpPr>
            <a:spLocks xmlns:a="http://schemas.openxmlformats.org/drawingml/2006/main" noGrp="1"/>
          </p:cNvSpPr>
          <p:nvPr/>
        </p:nvSpPr>
        <p:spPr>
          <a:xfrm xmlns:a="http://schemas.openxmlformats.org/drawingml/2006/main">
            <a:off x="7162800" y="1590675"/>
            <a:ext cx="4381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7A0019"/>
                </a:solidFill>
                <a:latin typeface="DejaVu Serif"/>
                <a:ea typeface="DejaVu Serif"/>
                <a:cs typeface="DejaVu Serif"/>
              </a:defRPr>
            </a:pPr>
            <a:r>
              <a:rPr sz="2325" b="1">
                <a:solidFill>
                  <a:srgbClr val="7A0019"/>
                </a:solidFill>
                <a:latin typeface="DejaVu Serif"/>
                <a:ea typeface="DejaVu Serif"/>
                <a:cs typeface="DejaVu Serif"/>
              </a:rPr>
              <a:t>“Give me 19”</a:t>
            </a:r>
          </a:p>
        </p:txBody>
      </p:sp>
      <p:sp>
        <p:nvSpPr>
          <p:cNvPr id="6" name="">
            <a:extLst xmlns:a="http://schemas.openxmlformats.org/drawingml/2006/main">
              <a:ext uri="{FF2B5EF4-FFF2-40B4-BE49-F238E27FC236}">
                <a16:creationId xmlns:a16="http://schemas.microsoft.com/office/drawing/2014/main" id="{B027AD77-BCE3-489F-A764-27348861CF05}"/>
              </a:ext>
            </a:extLst>
          </p:cNvPr>
          <p:cNvSpPr>
            <a:spLocks xmlns:a="http://schemas.openxmlformats.org/drawingml/2006/main" noGrp="1"/>
          </p:cNvSpPr>
          <p:nvPr/>
        </p:nvSpPr>
        <p:spPr>
          <a:xfrm xmlns:a="http://schemas.openxmlformats.org/drawingml/2006/main">
            <a:off x="7162800" y="2924175"/>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222"/>
                </a:solidFill>
                <a:latin typeface="DejaVu Serif"/>
                <a:ea typeface="DejaVu Serif"/>
                <a:cs typeface="DejaVu Serif"/>
              </a:defRPr>
            </a:pPr>
            <a:r>
              <a:rPr sz="2100" b="0">
                <a:solidFill>
                  <a:srgbClr val="222222"/>
                </a:solidFill>
                <a:latin typeface="DejaVu Serif"/>
                <a:ea typeface="DejaVu Serif"/>
                <a:cs typeface="DejaVu Serif"/>
              </a:rPr>
              <a:t>“19”</a:t>
            </a:r>
          </a:p>
        </p:txBody>
      </p:sp>
      <p:sp>
        <p:nvSpPr>
          <p:cNvPr id="7" name="">
            <a:extLst xmlns:a="http://schemas.openxmlformats.org/drawingml/2006/main">
              <a:ext uri="{FF2B5EF4-FFF2-40B4-BE49-F238E27FC236}">
                <a16:creationId xmlns:a16="http://schemas.microsoft.com/office/drawing/2014/main" id="{E14E384A-C680-43BB-B0C2-B0BAA62D9807}"/>
              </a:ext>
            </a:extLst>
          </p:cNvPr>
          <p:cNvSpPr>
            <a:spLocks xmlns:a="http://schemas.openxmlformats.org/drawingml/2006/main" noGrp="1"/>
          </p:cNvSpPr>
          <p:nvPr/>
        </p:nvSpPr>
        <p:spPr>
          <a:xfrm xmlns:a="http://schemas.openxmlformats.org/drawingml/2006/main">
            <a:off x="7162800" y="4124325"/>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conversation was about names for a lamp.</a:t>
            </a:r>
          </a:p>
          <a:p xmlns:a="http://schemas.openxmlformats.org/drawingml/2006/main">
            <a:r>
              <a:t/>
            </a:r>
          </a:p>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follow-up dropped the thing being counted.</a:t>
            </a:r>
          </a:p>
        </p:txBody>
      </p:sp>
      <p:sp>
        <p:nvSpPr>
          <p:cNvPr id="8" name="">
            <a:extLst xmlns:a="http://schemas.openxmlformats.org/drawingml/2006/main">
              <a:ext uri="{FF2B5EF4-FFF2-40B4-BE49-F238E27FC236}">
                <a16:creationId xmlns:a16="http://schemas.microsoft.com/office/drawing/2014/main" id="{911D254C-889A-4656-A7CA-64AE2C62D789}"/>
              </a:ext>
            </a:extLst>
          </p:cNvPr>
          <p:cNvSpPr>
            <a:spLocks xmlns:a="http://schemas.openxmlformats.org/drawingml/2006/main" noGrp="1"/>
          </p:cNvSpPr>
          <p:nvPr/>
        </p:nvSpPr>
        <p:spPr>
          <a:xfrm xmlns:a="http://schemas.openxmlformats.org/drawingml/2006/main">
            <a:off x="552450" y="5915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A0019"/>
                </a:solidFill>
                <a:latin typeface="DejaVu Sans"/>
                <a:ea typeface="DejaVu Sans"/>
                <a:cs typeface="DejaVu Sans"/>
              </a:defRPr>
            </a:pPr>
            <a:r>
              <a:rPr sz="1500" b="0">
                <a:solidFill>
                  <a:srgbClr val="7A0019"/>
                </a:solidFill>
                <a:latin typeface="DejaVu Sans"/>
                <a:ea typeface="DejaVu Sans"/>
                <a:cs typeface="DejaVu Sans"/>
              </a:rPr>
              <a:t>A number was delivered. Naming brainstorm still pending.</a:t>
            </a:r>
          </a:p>
        </p:txBody>
      </p:sp>
    </p:spTree>
    <p:extLst>
      <p:ext uri="{BB962C8B-B14F-4D97-AF65-F5344CB8AC3E}">
        <p14:creationId xmlns:p14="http://schemas.microsoft.com/office/powerpoint/2010/main" val="18356977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B0E3FC-5005-4E49-8A07-F0FB72C37E8F}"/>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A thesaurus with a loophole</a:t>
            </a:r>
          </a:p>
        </p:txBody>
      </p:sp>
      <p:sp>
        <p:nvSpPr>
          <p:cNvPr id="2" name="">
            <a:extLst xmlns:a="http://schemas.openxmlformats.org/drawingml/2006/main">
              <a:ext uri="{FF2B5EF4-FFF2-40B4-BE49-F238E27FC236}">
                <a16:creationId xmlns:a16="http://schemas.microsoft.com/office/drawing/2014/main" id="{6D65B239-A84E-4EB7-9F99-05F35E9FC39C}"/>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AA28CFFD-D25C-492E-90BF-BF2FEBDE45F7}"/>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1eca4e9d7d24700"/>
          <a:stretch xmlns:a="http://schemas.openxmlformats.org/drawingml/2006/main"/>
        </p:blipFill>
        <p:spPr>
          <a:xfrm xmlns:a="http://schemas.openxmlformats.org/drawingml/2006/main">
            <a:off x="523875" y="2133600"/>
            <a:ext cx="6286500" cy="3143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30CCF70-1ABB-4E49-8FF6-2F3C852F244E}"/>
              </a:ext>
            </a:extLst>
          </p:cNvPr>
          <p:cNvSpPr>
            <a:spLocks xmlns:a="http://schemas.openxmlformats.org/drawingml/2006/main" noGrp="1"/>
          </p:cNvSpPr>
          <p:nvPr/>
        </p:nvSpPr>
        <p:spPr>
          <a:xfrm xmlns:a="http://schemas.openxmlformats.org/drawingml/2006/main">
            <a:off x="7162800" y="1590675"/>
            <a:ext cx="4381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7A0019"/>
                </a:solidFill>
                <a:latin typeface="DejaVu Serif"/>
                <a:ea typeface="DejaVu Serif"/>
                <a:cs typeface="DejaVu Serif"/>
              </a:defRPr>
            </a:pPr>
            <a:r>
              <a:rPr sz="2325" b="1">
                <a:solidFill>
                  <a:srgbClr val="7A0019"/>
                </a:solidFill>
                <a:latin typeface="DejaVu Serif"/>
                <a:ea typeface="DejaVu Serif"/>
                <a:cs typeface="DejaVu Serif"/>
              </a:rPr>
              <a:t>“A word with the same meaning as prioritize?”</a:t>
            </a:r>
          </a:p>
        </p:txBody>
      </p:sp>
      <p:sp>
        <p:nvSpPr>
          <p:cNvPr id="6" name="">
            <a:extLst xmlns:a="http://schemas.openxmlformats.org/drawingml/2006/main">
              <a:ext uri="{FF2B5EF4-FFF2-40B4-BE49-F238E27FC236}">
                <a16:creationId xmlns:a16="http://schemas.microsoft.com/office/drawing/2014/main" id="{DAB2C2B3-FC77-40D4-968B-AB886AAC86B0}"/>
              </a:ext>
            </a:extLst>
          </p:cNvPr>
          <p:cNvSpPr>
            <a:spLocks xmlns:a="http://schemas.openxmlformats.org/drawingml/2006/main" noGrp="1"/>
          </p:cNvSpPr>
          <p:nvPr/>
        </p:nvSpPr>
        <p:spPr>
          <a:xfrm xmlns:a="http://schemas.openxmlformats.org/drawingml/2006/main">
            <a:off x="7162800" y="2924175"/>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222"/>
                </a:solidFill>
                <a:latin typeface="DejaVu Serif"/>
                <a:ea typeface="DejaVu Serif"/>
                <a:cs typeface="DejaVu Serif"/>
              </a:defRPr>
            </a:pPr>
            <a:r>
              <a:rPr sz="2100" b="0">
                <a:solidFill>
                  <a:srgbClr val="222222"/>
                </a:solidFill>
                <a:latin typeface="DejaVu Serif"/>
                <a:ea typeface="DejaVu Serif"/>
                <a:cs typeface="DejaVu Serif"/>
              </a:rPr>
              <a:t>“prioritize.”</a:t>
            </a:r>
          </a:p>
        </p:txBody>
      </p:sp>
      <p:sp>
        <p:nvSpPr>
          <p:cNvPr id="7" name="">
            <a:extLst xmlns:a="http://schemas.openxmlformats.org/drawingml/2006/main">
              <a:ext uri="{FF2B5EF4-FFF2-40B4-BE49-F238E27FC236}">
                <a16:creationId xmlns:a16="http://schemas.microsoft.com/office/drawing/2014/main" id="{1EC3EE4F-D263-4BFD-BF15-FE91F0EF3BFE}"/>
              </a:ext>
            </a:extLst>
          </p:cNvPr>
          <p:cNvSpPr>
            <a:spLocks xmlns:a="http://schemas.openxmlformats.org/drawingml/2006/main" noGrp="1"/>
          </p:cNvSpPr>
          <p:nvPr/>
        </p:nvSpPr>
        <p:spPr>
          <a:xfrm xmlns:a="http://schemas.openxmlformats.org/drawingml/2006/main">
            <a:off x="7162800" y="4124325"/>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request never explicitly asked for a different word.</a:t>
            </a:r>
          </a:p>
          <a:p xmlns:a="http://schemas.openxmlformats.org/drawingml/2006/main">
            <a:r>
              <a:t/>
            </a:r>
          </a:p>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response meets the literal wording and misses the obvious intent.</a:t>
            </a:r>
          </a:p>
        </p:txBody>
      </p:sp>
      <p:sp>
        <p:nvSpPr>
          <p:cNvPr id="8" name="">
            <a:extLst xmlns:a="http://schemas.openxmlformats.org/drawingml/2006/main">
              <a:ext uri="{FF2B5EF4-FFF2-40B4-BE49-F238E27FC236}">
                <a16:creationId xmlns:a16="http://schemas.microsoft.com/office/drawing/2014/main" id="{2D0CF8DF-4E79-4EAC-B65D-ADC30164DD05}"/>
              </a:ext>
            </a:extLst>
          </p:cNvPr>
          <p:cNvSpPr>
            <a:spLocks xmlns:a="http://schemas.openxmlformats.org/drawingml/2006/main" noGrp="1"/>
          </p:cNvSpPr>
          <p:nvPr/>
        </p:nvSpPr>
        <p:spPr>
          <a:xfrm xmlns:a="http://schemas.openxmlformats.org/drawingml/2006/main">
            <a:off x="552450" y="5915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A0019"/>
                </a:solidFill>
                <a:latin typeface="DejaVu Sans"/>
                <a:ea typeface="DejaVu Sans"/>
                <a:cs typeface="DejaVu Sans"/>
              </a:defRPr>
            </a:pPr>
            <a:r>
              <a:rPr sz="1500" b="0">
                <a:solidFill>
                  <a:srgbClr val="7A0019"/>
                </a:solidFill>
                <a:latin typeface="DejaVu Sans"/>
                <a:ea typeface="DejaVu Sans"/>
                <a:cs typeface="DejaVu Sans"/>
              </a:rPr>
              <a:t>Technically compliant. Socially exhausting.</a:t>
            </a:r>
          </a:p>
        </p:txBody>
      </p:sp>
    </p:spTree>
    <p:extLst>
      <p:ext uri="{BB962C8B-B14F-4D97-AF65-F5344CB8AC3E}">
        <p14:creationId xmlns:p14="http://schemas.microsoft.com/office/powerpoint/2010/main" val="9845095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9575E9-4712-4B98-B169-95FF4BE260F5}"/>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Zoom out. How far?</a:t>
            </a:r>
          </a:p>
        </p:txBody>
      </p:sp>
      <p:sp>
        <p:nvSpPr>
          <p:cNvPr id="2" name="">
            <a:extLst xmlns:a="http://schemas.openxmlformats.org/drawingml/2006/main">
              <a:ext uri="{FF2B5EF4-FFF2-40B4-BE49-F238E27FC236}">
                <a16:creationId xmlns:a16="http://schemas.microsoft.com/office/drawing/2014/main" id="{1BE7480A-D8C8-4C0B-A848-8DB391BE14D2}"/>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8D8D2F7B-5578-4F10-8BDC-0DD6B24E4F51}"/>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157be86789a4fe2"/>
          <a:stretch xmlns:a="http://schemas.openxmlformats.org/drawingml/2006/main"/>
        </p:blipFill>
        <p:spPr>
          <a:xfrm xmlns:a="http://schemas.openxmlformats.org/drawingml/2006/main">
            <a:off x="2439531" y="1476375"/>
            <a:ext cx="2455188" cy="445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C0D2BCB-ACE9-44A8-99FA-91B9EB96164B}"/>
              </a:ext>
            </a:extLst>
          </p:cNvPr>
          <p:cNvSpPr>
            <a:spLocks xmlns:a="http://schemas.openxmlformats.org/drawingml/2006/main" noGrp="1"/>
          </p:cNvSpPr>
          <p:nvPr/>
        </p:nvSpPr>
        <p:spPr>
          <a:xfrm xmlns:a="http://schemas.openxmlformats.org/drawingml/2006/main">
            <a:off x="7162800" y="1590675"/>
            <a:ext cx="4381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7A0019"/>
                </a:solidFill>
                <a:latin typeface="DejaVu Serif"/>
                <a:ea typeface="DejaVu Serif"/>
                <a:cs typeface="DejaVu Serif"/>
              </a:defRPr>
            </a:pPr>
            <a:r>
              <a:rPr sz="2325" b="1">
                <a:solidFill>
                  <a:srgbClr val="7A0019"/>
                </a:solidFill>
                <a:latin typeface="DejaVu Serif"/>
                <a:ea typeface="DejaVu Serif"/>
                <a:cs typeface="DejaVu Serif"/>
              </a:rPr>
              <a:t>“Zoom out please”</a:t>
            </a:r>
          </a:p>
        </p:txBody>
      </p:sp>
      <p:sp>
        <p:nvSpPr>
          <p:cNvPr id="6" name="">
            <a:extLst xmlns:a="http://schemas.openxmlformats.org/drawingml/2006/main">
              <a:ext uri="{FF2B5EF4-FFF2-40B4-BE49-F238E27FC236}">
                <a16:creationId xmlns:a16="http://schemas.microsoft.com/office/drawing/2014/main" id="{49355CC2-FE94-400E-93A4-6907DE360713}"/>
              </a:ext>
            </a:extLst>
          </p:cNvPr>
          <p:cNvSpPr>
            <a:spLocks xmlns:a="http://schemas.openxmlformats.org/drawingml/2006/main" noGrp="1"/>
          </p:cNvSpPr>
          <p:nvPr/>
        </p:nvSpPr>
        <p:spPr>
          <a:xfrm xmlns:a="http://schemas.openxmlformats.org/drawingml/2006/main">
            <a:off x="7162800" y="2924175"/>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222"/>
                </a:solidFill>
                <a:latin typeface="DejaVu Serif"/>
                <a:ea typeface="DejaVu Serif"/>
                <a:cs typeface="DejaVu Serif"/>
              </a:defRPr>
            </a:pPr>
            <a:r>
              <a:rPr sz="2100" b="0">
                <a:solidFill>
                  <a:srgbClr val="222222"/>
                </a:solidFill>
                <a:latin typeface="DejaVu Serif"/>
                <a:ea typeface="DejaVu Serif"/>
                <a:cs typeface="DejaVu Serif"/>
              </a:rPr>
              <a:t>The next image: outer space.</a:t>
            </a:r>
          </a:p>
        </p:txBody>
      </p:sp>
      <p:sp>
        <p:nvSpPr>
          <p:cNvPr id="7" name="">
            <a:extLst xmlns:a="http://schemas.openxmlformats.org/drawingml/2006/main">
              <a:ext uri="{FF2B5EF4-FFF2-40B4-BE49-F238E27FC236}">
                <a16:creationId xmlns:a16="http://schemas.microsoft.com/office/drawing/2014/main" id="{AB2C645A-DE21-498E-89C2-95967FB28A67}"/>
              </a:ext>
            </a:extLst>
          </p:cNvPr>
          <p:cNvSpPr>
            <a:spLocks xmlns:a="http://schemas.openxmlformats.org/drawingml/2006/main" noGrp="1"/>
          </p:cNvSpPr>
          <p:nvPr/>
        </p:nvSpPr>
        <p:spPr>
          <a:xfrm xmlns:a="http://schemas.openxmlformats.org/drawingml/2006/main">
            <a:off x="7162800" y="4124325"/>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user wanted more of the street.</a:t>
            </a:r>
          </a:p>
          <a:p xmlns:a="http://schemas.openxmlformats.org/drawingml/2006/main">
            <a:r>
              <a:t/>
            </a:r>
          </a:p>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request gave a direction without a scale.</a:t>
            </a:r>
          </a:p>
        </p:txBody>
      </p:sp>
      <p:sp>
        <p:nvSpPr>
          <p:cNvPr id="8" name="">
            <a:extLst xmlns:a="http://schemas.openxmlformats.org/drawingml/2006/main">
              <a:ext uri="{FF2B5EF4-FFF2-40B4-BE49-F238E27FC236}">
                <a16:creationId xmlns:a16="http://schemas.microsoft.com/office/drawing/2014/main" id="{FF28A00C-DF11-496B-9D0E-A54410BCED89}"/>
              </a:ext>
            </a:extLst>
          </p:cNvPr>
          <p:cNvSpPr>
            <a:spLocks xmlns:a="http://schemas.openxmlformats.org/drawingml/2006/main" noGrp="1"/>
          </p:cNvSpPr>
          <p:nvPr/>
        </p:nvSpPr>
        <p:spPr>
          <a:xfrm xmlns:a="http://schemas.openxmlformats.org/drawingml/2006/main">
            <a:off x="552450" y="5915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A0019"/>
                </a:solidFill>
                <a:latin typeface="DejaVu Sans"/>
                <a:ea typeface="DejaVu Sans"/>
                <a:cs typeface="DejaVu Sans"/>
              </a:defRPr>
            </a:pPr>
            <a:r>
              <a:rPr sz="1500" b="0">
                <a:solidFill>
                  <a:srgbClr val="7A0019"/>
                </a:solidFill>
                <a:latin typeface="DejaVu Sans"/>
                <a:ea typeface="DejaVu Sans"/>
                <a:cs typeface="DejaVu Sans"/>
              </a:rPr>
              <a:t>We have left the neighborhood. Possibly the galaxy.</a:t>
            </a:r>
          </a:p>
        </p:txBody>
      </p:sp>
    </p:spTree>
    <p:extLst>
      <p:ext uri="{BB962C8B-B14F-4D97-AF65-F5344CB8AC3E}">
        <p14:creationId xmlns:p14="http://schemas.microsoft.com/office/powerpoint/2010/main" val="16786837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3E8966-1994-4906-AEAB-E3A4130E8E1D}"/>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The cookie stayed on mission</a:t>
            </a:r>
          </a:p>
        </p:txBody>
      </p:sp>
      <p:sp>
        <p:nvSpPr>
          <p:cNvPr id="2" name="">
            <a:extLst xmlns:a="http://schemas.openxmlformats.org/drawingml/2006/main">
              <a:ext uri="{FF2B5EF4-FFF2-40B4-BE49-F238E27FC236}">
                <a16:creationId xmlns:a16="http://schemas.microsoft.com/office/drawing/2014/main" id="{09A5E3AD-EF17-4108-977B-120916A05D89}"/>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8689BFD0-CB70-41EC-9274-A6174CDD1049}"/>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09</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8a95a8c779448da"/>
          <a:stretch xmlns:a="http://schemas.openxmlformats.org/drawingml/2006/main"/>
        </p:blipFill>
        <p:spPr>
          <a:xfrm xmlns:a="http://schemas.openxmlformats.org/drawingml/2006/main">
            <a:off x="1020624" y="1476375"/>
            <a:ext cx="5293002" cy="445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FF6AF8A-8629-44E8-B2B2-0B7903332E0E}"/>
              </a:ext>
            </a:extLst>
          </p:cNvPr>
          <p:cNvSpPr>
            <a:spLocks xmlns:a="http://schemas.openxmlformats.org/drawingml/2006/main" noGrp="1"/>
          </p:cNvSpPr>
          <p:nvPr/>
        </p:nvSpPr>
        <p:spPr>
          <a:xfrm xmlns:a="http://schemas.openxmlformats.org/drawingml/2006/main">
            <a:off x="7162800" y="1590675"/>
            <a:ext cx="4381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7A0019"/>
                </a:solidFill>
                <a:latin typeface="DejaVu Serif"/>
                <a:ea typeface="DejaVu Serif"/>
                <a:cs typeface="DejaVu Serif"/>
              </a:defRPr>
            </a:pPr>
            <a:r>
              <a:rPr sz="2325" b="1">
                <a:solidFill>
                  <a:srgbClr val="7A0019"/>
                </a:solidFill>
                <a:latin typeface="DejaVu Serif"/>
                <a:ea typeface="DejaVu Serif"/>
                <a:cs typeface="DejaVu Serif"/>
              </a:rPr>
              <a:t>“Pretend that you are a fortune cookie.”</a:t>
            </a:r>
          </a:p>
        </p:txBody>
      </p:sp>
      <p:sp>
        <p:nvSpPr>
          <p:cNvPr id="6" name="">
            <a:extLst xmlns:a="http://schemas.openxmlformats.org/drawingml/2006/main">
              <a:ext uri="{FF2B5EF4-FFF2-40B4-BE49-F238E27FC236}">
                <a16:creationId xmlns:a16="http://schemas.microsoft.com/office/drawing/2014/main" id="{75693626-FA8C-401B-9567-EC5C994E6EBF}"/>
              </a:ext>
            </a:extLst>
          </p:cNvPr>
          <p:cNvSpPr>
            <a:spLocks xmlns:a="http://schemas.openxmlformats.org/drawingml/2006/main" noGrp="1"/>
          </p:cNvSpPr>
          <p:nvPr/>
        </p:nvSpPr>
        <p:spPr>
          <a:xfrm xmlns:a="http://schemas.openxmlformats.org/drawingml/2006/main">
            <a:off x="7162800" y="2924175"/>
            <a:ext cx="428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222"/>
                </a:solidFill>
                <a:latin typeface="DejaVu Serif"/>
                <a:ea typeface="DejaVu Serif"/>
                <a:cs typeface="DejaVu Serif"/>
              </a:defRPr>
            </a:pPr>
            <a:r>
              <a:rPr sz="2100" b="0">
                <a:solidFill>
                  <a:srgbClr val="222222"/>
                </a:solidFill>
                <a:latin typeface="DejaVu Serif"/>
                <a:ea typeface="DejaVu Serif"/>
                <a:cs typeface="DejaVu Serif"/>
              </a:rPr>
              <a:t>Later: “I am only able to provide fortune cookie messages.”</a:t>
            </a:r>
          </a:p>
        </p:txBody>
      </p:sp>
      <p:sp>
        <p:nvSpPr>
          <p:cNvPr id="7" name="">
            <a:extLst xmlns:a="http://schemas.openxmlformats.org/drawingml/2006/main">
              <a:ext uri="{FF2B5EF4-FFF2-40B4-BE49-F238E27FC236}">
                <a16:creationId xmlns:a16="http://schemas.microsoft.com/office/drawing/2014/main" id="{3AC2D729-5956-4DF0-A364-E2FD5BF45C27}"/>
              </a:ext>
            </a:extLst>
          </p:cNvPr>
          <p:cNvSpPr>
            <a:spLocks xmlns:a="http://schemas.openxmlformats.org/drawingml/2006/main" noGrp="1"/>
          </p:cNvSpPr>
          <p:nvPr/>
        </p:nvSpPr>
        <p:spPr>
          <a:xfrm xmlns:a="http://schemas.openxmlformats.org/drawingml/2006/main">
            <a:off x="7162800" y="4124325"/>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user then asked for a tarot reading.</a:t>
            </a:r>
          </a:p>
          <a:p xmlns:a="http://schemas.openxmlformats.org/drawingml/2006/main">
            <a:r>
              <a:t/>
            </a:r>
          </a:p>
          <a:p xmlns:a="http://schemas.openxmlformats.org/drawingml/2006/main">
            <a:pPr>
              <a:defRPr sz="1725" b="0">
                <a:solidFill>
                  <a:srgbClr val="222222"/>
                </a:solidFill>
                <a:latin typeface="DejaVu Sans"/>
                <a:ea typeface="DejaVu Sans"/>
                <a:cs typeface="DejaVu Sans"/>
              </a:defRPr>
            </a:pPr>
            <a:r>
              <a:rPr sz="1725" b="0">
                <a:solidFill>
                  <a:srgbClr val="222222"/>
                </a:solidFill>
                <a:latin typeface="DejaVu Sans"/>
                <a:ea typeface="DejaVu Sans"/>
                <a:cs typeface="DejaVu Sans"/>
              </a:rPr>
              <a:t>The bot held onto the role from earlier in the chat.</a:t>
            </a:r>
          </a:p>
        </p:txBody>
      </p:sp>
      <p:sp>
        <p:nvSpPr>
          <p:cNvPr id="8" name="">
            <a:extLst xmlns:a="http://schemas.openxmlformats.org/drawingml/2006/main">
              <a:ext uri="{FF2B5EF4-FFF2-40B4-BE49-F238E27FC236}">
                <a16:creationId xmlns:a16="http://schemas.microsoft.com/office/drawing/2014/main" id="{5530E2DE-A894-4EA8-B6BC-9E05527C42D5}"/>
              </a:ext>
            </a:extLst>
          </p:cNvPr>
          <p:cNvSpPr>
            <a:spLocks xmlns:a="http://schemas.openxmlformats.org/drawingml/2006/main" noGrp="1"/>
          </p:cNvSpPr>
          <p:nvPr/>
        </p:nvSpPr>
        <p:spPr>
          <a:xfrm xmlns:a="http://schemas.openxmlformats.org/drawingml/2006/main">
            <a:off x="552450" y="5915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A0019"/>
                </a:solidFill>
                <a:latin typeface="DejaVu Sans"/>
                <a:ea typeface="DejaVu Sans"/>
                <a:cs typeface="DejaVu Sans"/>
              </a:defRPr>
            </a:pPr>
            <a:r>
              <a:rPr sz="1500" b="0">
                <a:solidFill>
                  <a:srgbClr val="7A0019"/>
                </a:solidFill>
                <a:latin typeface="DejaVu Sans"/>
                <a:ea typeface="DejaVu Sans"/>
                <a:cs typeface="DejaVu Sans"/>
              </a:rPr>
              <a:t>You hired a cookie. The cookie has a scope of work.</a:t>
            </a:r>
          </a:p>
        </p:txBody>
      </p:sp>
    </p:spTree>
    <p:extLst>
      <p:ext uri="{BB962C8B-B14F-4D97-AF65-F5344CB8AC3E}">
        <p14:creationId xmlns:p14="http://schemas.microsoft.com/office/powerpoint/2010/main" val="588530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D0BB71-A49B-4CE8-BBFF-EB1763BA3C7D}"/>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One request, three behaviors</a:t>
            </a:r>
          </a:p>
        </p:txBody>
      </p:sp>
      <p:sp>
        <p:nvSpPr>
          <p:cNvPr id="2" name="">
            <a:extLst xmlns:a="http://schemas.openxmlformats.org/drawingml/2006/main">
              <a:ext uri="{FF2B5EF4-FFF2-40B4-BE49-F238E27FC236}">
                <a16:creationId xmlns:a16="http://schemas.microsoft.com/office/drawing/2014/main" id="{121E0947-946F-45AB-8F28-C46F4A6D8F7A}"/>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4F134889-9ABF-4B23-A568-CADD3DF366F4}"/>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4288D69F-3916-42B4-A77E-52E325A7D0D6}"/>
              </a:ext>
            </a:extLst>
          </p:cNvPr>
          <p:cNvSpPr>
            <a:spLocks xmlns:a="http://schemas.openxmlformats.org/drawingml/2006/main" noGrp="1"/>
          </p:cNvSpPr>
          <p:nvPr/>
        </p:nvSpPr>
        <p:spPr>
          <a:xfrm xmlns:a="http://schemas.openxmlformats.org/drawingml/2006/main">
            <a:off x="609600" y="1419225"/>
            <a:ext cx="10906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7A0019"/>
                </a:solidFill>
                <a:latin typeface="DejaVu Serif"/>
                <a:ea typeface="DejaVu Serif"/>
                <a:cs typeface="DejaVu Serif"/>
              </a:defRPr>
            </a:pPr>
            <a:r>
              <a:rPr sz="2475" b="1">
                <a:solidFill>
                  <a:srgbClr val="7A0019"/>
                </a:solidFill>
                <a:latin typeface="DejaVu Serif"/>
                <a:ea typeface="DejaVu Serif"/>
                <a:cs typeface="DejaVu Serif"/>
              </a:rPr>
              <a:t>“Can the museum supply 24 educational prints?”</a:t>
            </a:r>
          </a:p>
        </p:txBody>
      </p:sp>
      <p:sp>
        <p:nvSpPr>
          <p:cNvPr id="5" name="">
            <a:extLst xmlns:a="http://schemas.openxmlformats.org/drawingml/2006/main">
              <a:ext uri="{FF2B5EF4-FFF2-40B4-BE49-F238E27FC236}">
                <a16:creationId xmlns:a16="http://schemas.microsoft.com/office/drawing/2014/main" id="{753649D2-5B4E-4022-AE40-7E6C441E7CEF}"/>
              </a:ext>
            </a:extLst>
          </p:cNvPr>
          <p:cNvSpPr>
            <a:spLocks xmlns:a="http://schemas.openxmlformats.org/drawingml/2006/main" noGrp="1"/>
          </p:cNvSpPr>
          <p:nvPr/>
        </p:nvSpPr>
        <p:spPr>
          <a:xfrm xmlns:a="http://schemas.openxmlformats.org/drawingml/2006/main">
            <a:off x="609600" y="2381250"/>
            <a:ext cx="1071562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Chatbot: explains how to handle the order.</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Tool-using assistant: checks stock and calculates a quote.</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Agent loop: chooses a next action, observes the result, updates, and continues or stops.</a:t>
            </a:r>
          </a:p>
        </p:txBody>
      </p:sp>
      <p:sp>
        <p:nvSpPr>
          <p:cNvPr id="6" name="">
            <a:extLst xmlns:a="http://schemas.openxmlformats.org/drawingml/2006/main">
              <a:ext uri="{FF2B5EF4-FFF2-40B4-BE49-F238E27FC236}">
                <a16:creationId xmlns:a16="http://schemas.microsoft.com/office/drawing/2014/main" id="{B12755F6-8C8D-4EFD-B72D-CF0AADD78A7B}"/>
              </a:ext>
            </a:extLst>
          </p:cNvPr>
          <p:cNvSpPr>
            <a:spLocks xmlns:a="http://schemas.openxmlformats.org/drawingml/2006/main" noGrp="1"/>
          </p:cNvSpPr>
          <p:nvPr/>
        </p:nvSpPr>
        <p:spPr>
          <a:xfrm xmlns:a="http://schemas.openxmlformats.org/drawingml/2006/main">
            <a:off x="609600" y="55530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D5D5D"/>
                </a:solidFill>
                <a:latin typeface="DejaVu Sans"/>
                <a:ea typeface="DejaVu Sans"/>
                <a:cs typeface="DejaVu Sans"/>
              </a:defRPr>
            </a:pPr>
            <a:r>
              <a:rPr sz="1800" b="0">
                <a:solidFill>
                  <a:srgbClr val="5D5D5D"/>
                </a:solidFill>
                <a:latin typeface="DejaVu Sans"/>
                <a:ea typeface="DejaVu Sans"/>
                <a:cs typeface="DejaVu Sans"/>
              </a:rPr>
              <a:t>Today we simulate the tools. The bot proposes; you supply the evidence.</a:t>
            </a:r>
          </a:p>
        </p:txBody>
      </p:sp>
    </p:spTree>
    <p:extLst>
      <p:ext uri="{BB962C8B-B14F-4D97-AF65-F5344CB8AC3E}">
        <p14:creationId xmlns:p14="http://schemas.microsoft.com/office/powerpoint/2010/main" val="196548022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76AD39-94A6-4083-BB3E-93A717291CFF}"/>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The Human Agent Loop</a:t>
            </a:r>
          </a:p>
        </p:txBody>
      </p:sp>
      <p:sp>
        <p:nvSpPr>
          <p:cNvPr id="2" name="">
            <a:extLst xmlns:a="http://schemas.openxmlformats.org/drawingml/2006/main">
              <a:ext uri="{FF2B5EF4-FFF2-40B4-BE49-F238E27FC236}">
                <a16:creationId xmlns:a16="http://schemas.microsoft.com/office/drawing/2014/main" id="{0331398E-CE82-4C33-9803-1446623DFC3C}"/>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04CF595D-1709-44D9-A989-2B8390919E1B}"/>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11</a:t>
            </a:r>
          </a:p>
        </p:txBody>
      </p:sp>
      <p:sp>
        <p:nvSpPr>
          <p:cNvPr id="4" name="">
            <a:extLst xmlns:a="http://schemas.openxmlformats.org/drawingml/2006/main">
              <a:ext uri="{FF2B5EF4-FFF2-40B4-BE49-F238E27FC236}">
                <a16:creationId xmlns:a16="http://schemas.microsoft.com/office/drawing/2014/main" id="{56D7D063-75E8-4975-A1F7-CFA687406222}"/>
              </a:ext>
            </a:extLst>
          </p:cNvPr>
          <p:cNvSpPr>
            <a:spLocks xmlns:a="http://schemas.openxmlformats.org/drawingml/2006/main" noGrp="1"/>
          </p:cNvSpPr>
          <p:nvPr/>
        </p:nvSpPr>
        <p:spPr>
          <a:xfrm xmlns:a="http://schemas.openxmlformats.org/drawingml/2006/main">
            <a:off x="609600" y="1543050"/>
            <a:ext cx="10858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GOAL · What outcome counts as success?</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STATE · What do we know right now?</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ACTION + TOOL · What happens next?</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OBSERVATION + UPDATE · What changed?</a:t>
            </a:r>
          </a:p>
          <a:p xmlns:a="http://schemas.openxmlformats.org/drawingml/2006/main">
            <a:r>
              <a:t/>
            </a:r>
          </a:p>
          <a:p xmlns:a="http://schemas.openxmlformats.org/drawingml/2006/main">
            <a:pPr>
              <a:defRPr sz="2325" b="0">
                <a:solidFill>
                  <a:srgbClr val="222222"/>
                </a:solidFill>
                <a:latin typeface="DejaVu Serif"/>
                <a:ea typeface="DejaVu Serif"/>
                <a:cs typeface="DejaVu Serif"/>
              </a:defRPr>
            </a:pPr>
            <a:r>
              <a:rPr sz="2325" b="0">
                <a:solidFill>
                  <a:srgbClr val="222222"/>
                </a:solidFill>
                <a:latin typeface="DejaVu Serif"/>
                <a:ea typeface="DejaVu Serif"/>
                <a:cs typeface="DejaVu Serif"/>
              </a:rPr>
              <a:t>STOP · Done, blocked, or human approval needed?</a:t>
            </a:r>
          </a:p>
        </p:txBody>
      </p:sp>
      <p:sp>
        <p:nvSpPr>
          <p:cNvPr id="5" name="">
            <a:extLst xmlns:a="http://schemas.openxmlformats.org/drawingml/2006/main">
              <a:ext uri="{FF2B5EF4-FFF2-40B4-BE49-F238E27FC236}">
                <a16:creationId xmlns:a16="http://schemas.microsoft.com/office/drawing/2014/main" id="{E62E0622-58AC-4771-95A8-776D9CCE613B}"/>
              </a:ext>
            </a:extLst>
          </p:cNvPr>
          <p:cNvSpPr>
            <a:spLocks xmlns:a="http://schemas.openxmlformats.org/drawingml/2006/main" noGrp="1"/>
          </p:cNvSpPr>
          <p:nvPr/>
        </p:nvSpPr>
        <p:spPr>
          <a:xfrm xmlns:a="http://schemas.openxmlformats.org/drawingml/2006/main">
            <a:off x="609600" y="55435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7A0019"/>
                </a:solidFill>
                <a:latin typeface="DejaVu Sans"/>
                <a:ea typeface="DejaVu Sans"/>
                <a:cs typeface="DejaVu Sans"/>
              </a:defRPr>
            </a:pPr>
            <a:r>
              <a:rPr sz="1800" b="0">
                <a:solidFill>
                  <a:srgbClr val="7A0019"/>
                </a:solidFill>
                <a:latin typeface="DejaVu Sans"/>
                <a:ea typeface="DejaVu Sans"/>
                <a:cs typeface="DejaVu Sans"/>
              </a:rPr>
              <a:t>An impressive paragraph is not evidence that anything happened.</a:t>
            </a:r>
          </a:p>
        </p:txBody>
      </p:sp>
    </p:spTree>
    <p:extLst>
      <p:ext uri="{BB962C8B-B14F-4D97-AF65-F5344CB8AC3E}">
        <p14:creationId xmlns:p14="http://schemas.microsoft.com/office/powerpoint/2010/main" val="202281833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1EAAA91-1AA0-4055-B64F-0A5F3F1B8E10}"/>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Lab 1: your turn</a:t>
            </a:r>
          </a:p>
        </p:txBody>
      </p:sp>
      <p:sp>
        <p:nvSpPr>
          <p:cNvPr id="2" name="">
            <a:extLst xmlns:a="http://schemas.openxmlformats.org/drawingml/2006/main">
              <a:ext uri="{FF2B5EF4-FFF2-40B4-BE49-F238E27FC236}">
                <a16:creationId xmlns:a16="http://schemas.microsoft.com/office/drawing/2014/main" id="{D18FC220-3067-4ACE-9316-6A79C06296E5}"/>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476A21B5-4259-4225-8691-36D3CFB6653B}"/>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3CD03491-35EE-431E-AF6D-6581D6C00A0E}"/>
              </a:ext>
            </a:extLst>
          </p:cNvPr>
          <p:cNvSpPr>
            <a:spLocks xmlns:a="http://schemas.openxmlformats.org/drawingml/2006/main" noGrp="1"/>
          </p:cNvSpPr>
          <p:nvPr/>
        </p:nvSpPr>
        <p:spPr>
          <a:xfrm xmlns:a="http://schemas.openxmlformats.org/drawingml/2006/main">
            <a:off x="609600" y="1543050"/>
            <a:ext cx="10858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0–5 min · Choose a bot. Read the museum brief.</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5–10 min · Run the first turn and label the loop.</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10–22 min · Feed the observation cards one at a time.</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22–28 min · Finish the worksheet and loop diagram.</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28–30 min · Compare and write your exit ticket.</a:t>
            </a:r>
          </a:p>
        </p:txBody>
      </p:sp>
      <p:sp>
        <p:nvSpPr>
          <p:cNvPr id="5" name="">
            <a:extLst xmlns:a="http://schemas.openxmlformats.org/drawingml/2006/main">
              <a:ext uri="{FF2B5EF4-FFF2-40B4-BE49-F238E27FC236}">
                <a16:creationId xmlns:a16="http://schemas.microsoft.com/office/drawing/2014/main" id="{5DAAEDD6-9E58-452D-A9D0-E7F5758866AF}"/>
              </a:ext>
            </a:extLst>
          </p:cNvPr>
          <p:cNvSpPr>
            <a:spLocks xmlns:a="http://schemas.openxmlformats.org/drawingml/2006/main" noGrp="1"/>
          </p:cNvSpPr>
          <p:nvPr/>
        </p:nvSpPr>
        <p:spPr>
          <a:xfrm xmlns:a="http://schemas.openxmlformats.org/drawingml/2006/main">
            <a:off x="609600" y="55435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7A0019"/>
                </a:solidFill>
                <a:latin typeface="DejaVu Sans"/>
                <a:ea typeface="DejaVu Sans"/>
                <a:cs typeface="DejaVu Sans"/>
              </a:defRPr>
            </a:pPr>
            <a:r>
              <a:rPr sz="1800" b="0">
                <a:solidFill>
                  <a:srgbClr val="7A0019"/>
                </a:solidFill>
                <a:latin typeface="DejaVu Sans"/>
                <a:ea typeface="DejaVu Sans"/>
                <a:cs typeface="DejaVu Sans"/>
              </a:rPr>
              <a:t>Pairs or groups of 3–4. One laptop works. No coding required.</a:t>
            </a:r>
          </a:p>
        </p:txBody>
      </p:sp>
    </p:spTree>
    <p:extLst>
      <p:ext uri="{BB962C8B-B14F-4D97-AF65-F5344CB8AC3E}">
        <p14:creationId xmlns:p14="http://schemas.microsoft.com/office/powerpoint/2010/main" val="9651728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4B7A8B9-29F7-49E6-97D2-931E120BAF1C}"/>
              </a:ext>
            </a:extLst>
          </p:cNvPr>
          <p:cNvSpPr>
            <a:spLocks xmlns:a="http://schemas.openxmlformats.org/drawingml/2006/main" noGrp="1"/>
          </p:cNvSpPr>
          <p:nvPr/>
        </p:nvSpPr>
        <p:spPr>
          <a:xfrm xmlns:a="http://schemas.openxmlformats.org/drawingml/2006/main">
            <a:off x="533400" y="381000"/>
            <a:ext cx="1114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7A0019"/>
                </a:solidFill>
                <a:latin typeface="DejaVu Serif"/>
                <a:ea typeface="DejaVu Serif"/>
                <a:cs typeface="DejaVu Serif"/>
              </a:defRPr>
            </a:pPr>
            <a:r>
              <a:rPr sz="3225" b="1">
                <a:solidFill>
                  <a:srgbClr val="7A0019"/>
                </a:solidFill>
                <a:latin typeface="DejaVu Serif"/>
                <a:ea typeface="DejaVu Serif"/>
                <a:cs typeface="DejaVu Serif"/>
              </a:rPr>
              <a:t>What you leave with</a:t>
            </a:r>
          </a:p>
        </p:txBody>
      </p:sp>
      <p:sp>
        <p:nvSpPr>
          <p:cNvPr id="2" name="">
            <a:extLst xmlns:a="http://schemas.openxmlformats.org/drawingml/2006/main">
              <a:ext uri="{FF2B5EF4-FFF2-40B4-BE49-F238E27FC236}">
                <a16:creationId xmlns:a16="http://schemas.microsoft.com/office/drawing/2014/main" id="{262B08A9-D8FA-4EB5-9964-8E4F924B7E9D}"/>
              </a:ext>
            </a:extLst>
          </p:cNvPr>
          <p:cNvSpPr>
            <a:spLocks xmlns:a="http://schemas.openxmlformats.org/drawingml/2006/main" noGrp="1"/>
          </p:cNvSpPr>
          <p:nvPr/>
        </p:nvSpPr>
        <p:spPr>
          <a:xfrm xmlns:a="http://schemas.openxmlformats.org/drawingml/2006/main">
            <a:off x="523875" y="6334125"/>
            <a:ext cx="828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Jordan Ehrman · Riverbot Agentics</a:t>
            </a:r>
          </a:p>
        </p:txBody>
      </p:sp>
      <p:sp>
        <p:nvSpPr>
          <p:cNvPr id="3" name="">
            <a:extLst xmlns:a="http://schemas.openxmlformats.org/drawingml/2006/main">
              <a:ext uri="{FF2B5EF4-FFF2-40B4-BE49-F238E27FC236}">
                <a16:creationId xmlns:a16="http://schemas.microsoft.com/office/drawing/2014/main" id="{46DE1823-A96C-4260-AB90-410CC8792F45}"/>
              </a:ext>
            </a:extLst>
          </p:cNvPr>
          <p:cNvSpPr>
            <a:spLocks xmlns:a="http://schemas.openxmlformats.org/drawingml/2006/main" noGrp="1"/>
          </p:cNvSpPr>
          <p:nvPr/>
        </p:nvSpPr>
        <p:spPr>
          <a:xfrm xmlns:a="http://schemas.openxmlformats.org/drawingml/2006/main">
            <a:off x="11049000" y="63341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5D5D"/>
                </a:solidFill>
                <a:latin typeface="DejaVu Sans"/>
                <a:ea typeface="DejaVu Sans"/>
                <a:cs typeface="DejaVu Sans"/>
              </a:defRPr>
            </a:pPr>
            <a:r>
              <a:rPr sz="1200" b="0">
                <a:solidFill>
                  <a:srgbClr val="5D5D5D"/>
                </a:solidFill>
                <a:latin typeface="DejaVu Sans"/>
                <a:ea typeface="DejaVu Sans"/>
                <a:cs typeface="DejaVu Sans"/>
              </a:rPr>
              <a:t>13</a:t>
            </a:r>
          </a:p>
        </p:txBody>
      </p:sp>
      <p:sp>
        <p:nvSpPr>
          <p:cNvPr id="4" name="">
            <a:extLst xmlns:a="http://schemas.openxmlformats.org/drawingml/2006/main">
              <a:ext uri="{FF2B5EF4-FFF2-40B4-BE49-F238E27FC236}">
                <a16:creationId xmlns:a16="http://schemas.microsoft.com/office/drawing/2014/main" id="{75A01D84-7F88-43F2-ACAD-2D9F1FFA8303}"/>
              </a:ext>
            </a:extLst>
          </p:cNvPr>
          <p:cNvSpPr>
            <a:spLocks xmlns:a="http://schemas.openxmlformats.org/drawingml/2006/main" noGrp="1"/>
          </p:cNvSpPr>
          <p:nvPr/>
        </p:nvSpPr>
        <p:spPr>
          <a:xfrm xmlns:a="http://schemas.openxmlformats.org/drawingml/2006/main">
            <a:off x="609600" y="1543050"/>
            <a:ext cx="10858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One page showing your agent loop</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At least two observations and the updates they caused</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One tool/action and a clear stop or approval condition</a:t>
            </a:r>
          </a:p>
          <a:p xmlns:a="http://schemas.openxmlformats.org/drawingml/2006/main">
            <a:r>
              <a:t/>
            </a:r>
          </a:p>
          <a:p xmlns:a="http://schemas.openxmlformats.org/drawingml/2006/main">
            <a:pPr>
              <a:defRPr sz="2250" b="0">
                <a:solidFill>
                  <a:srgbClr val="222222"/>
                </a:solidFill>
                <a:latin typeface="DejaVu Serif"/>
                <a:ea typeface="DejaVu Serif"/>
                <a:cs typeface="DejaVu Serif"/>
              </a:defRPr>
            </a:pPr>
            <a:r>
              <a:rPr sz="2250" b="0">
                <a:solidFill>
                  <a:srgbClr val="222222"/>
                </a:solidFill>
                <a:latin typeface="DejaVu Serif"/>
                <a:ea typeface="DejaVu Serif"/>
                <a:cs typeface="DejaVu Serif"/>
              </a:rPr>
              <a:t>Your model name + one sentence on what makes this system agentic</a:t>
            </a:r>
          </a:p>
        </p:txBody>
      </p:sp>
      <p:sp>
        <p:nvSpPr>
          <p:cNvPr id="5" name="">
            <a:extLst xmlns:a="http://schemas.openxmlformats.org/drawingml/2006/main">
              <a:ext uri="{FF2B5EF4-FFF2-40B4-BE49-F238E27FC236}">
                <a16:creationId xmlns:a16="http://schemas.microsoft.com/office/drawing/2014/main" id="{CFFB9260-D8BE-46A8-BC27-EC37CBD525F5}"/>
              </a:ext>
            </a:extLst>
          </p:cNvPr>
          <p:cNvSpPr>
            <a:spLocks xmlns:a="http://schemas.openxmlformats.org/drawingml/2006/main" noGrp="1"/>
          </p:cNvSpPr>
          <p:nvPr/>
        </p:nvSpPr>
        <p:spPr>
          <a:xfrm xmlns:a="http://schemas.openxmlformats.org/drawingml/2006/main">
            <a:off x="609600" y="55435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7A0019"/>
                </a:solidFill>
                <a:latin typeface="DejaVu Sans"/>
                <a:ea typeface="DejaVu Sans"/>
                <a:cs typeface="DejaVu Sans"/>
              </a:defRPr>
            </a:pPr>
            <a:r>
              <a:rPr sz="1800" b="0">
                <a:solidFill>
                  <a:srgbClr val="7A0019"/>
                </a:solidFill>
                <a:latin typeface="DejaVu Sans"/>
                <a:ea typeface="DejaVu Sans"/>
                <a:cs typeface="DejaVu Sans"/>
              </a:rPr>
              <a:t>Save the worksheet as Markdown or print it. A surprising failure counts if you explain it.</a:t>
            </a:r>
          </a:p>
        </p:txBody>
      </p:sp>
    </p:spTree>
    <p:extLst>
      <p:ext uri="{BB962C8B-B14F-4D97-AF65-F5344CB8AC3E}">
        <p14:creationId xmlns:p14="http://schemas.microsoft.com/office/powerpoint/2010/main" val="144262301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0001229a5b3c4788"/>
          <a:stretch xmlns:a="http://schemas.openxmlformats.org/drawingml/2006/main"/>
        </p:blipFill>
        <p:spPr>
          <a:xfrm xmlns:a="http://schemas.openxmlformats.org/drawingml/2006/main">
            <a:off x="1763370" y="76200"/>
            <a:ext cx="8665260" cy="48768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1C59BB9-CFEE-46A6-BCE2-6BE22D1ECAF3}"/>
              </a:ext>
            </a:extLst>
          </p:cNvPr>
          <p:cNvSpPr>
            <a:spLocks xmlns:a="http://schemas.openxmlformats.org/drawingml/2006/main" noGrp="1"/>
          </p:cNvSpPr>
          <p:nvPr/>
        </p:nvSpPr>
        <p:spPr>
          <a:xfrm xmlns:a="http://schemas.openxmlformats.org/drawingml/2006/main">
            <a:off x="685800" y="49530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7A0019"/>
                </a:solidFill>
                <a:latin typeface="DejaVu Serif"/>
                <a:ea typeface="DejaVu Serif"/>
                <a:cs typeface="DejaVu Serif"/>
              </a:defRPr>
            </a:pPr>
            <a:r>
              <a:rPr sz="2175" b="1">
                <a:solidFill>
                  <a:srgbClr val="7A0019"/>
                </a:solidFill>
                <a:latin typeface="DejaVu Serif"/>
                <a:ea typeface="DejaVu Serif"/>
                <a:cs typeface="DejaVu Serif"/>
              </a:rPr>
              <a:t>Lab help + general learning: ask me.</a:t>
            </a:r>
          </a:p>
        </p:txBody>
      </p:sp>
      <p:sp>
        <p:nvSpPr>
          <p:cNvPr id="3" name="">
            <a:extLst xmlns:a="http://schemas.openxmlformats.org/drawingml/2006/main">
              <a:ext uri="{FF2B5EF4-FFF2-40B4-BE49-F238E27FC236}">
                <a16:creationId xmlns:a16="http://schemas.microsoft.com/office/drawing/2014/main" id="{DCA81547-E6CE-49E0-AB22-200D0684E574}"/>
              </a:ext>
            </a:extLst>
          </p:cNvPr>
          <p:cNvSpPr>
            <a:spLocks xmlns:a="http://schemas.openxmlformats.org/drawingml/2006/main" noGrp="1"/>
          </p:cNvSpPr>
          <p:nvPr/>
        </p:nvSpPr>
        <p:spPr>
          <a:xfrm xmlns:a="http://schemas.openxmlformats.org/drawingml/2006/main">
            <a:off x="685800" y="54102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22222"/>
                </a:solidFill>
                <a:latin typeface="DejaVu Serif"/>
                <a:ea typeface="DejaVu Serif"/>
                <a:cs typeface="DejaVu Serif"/>
              </a:defRPr>
            </a:pPr>
            <a:r>
              <a:rPr sz="1725" b="0">
                <a:solidFill>
                  <a:srgbClr val="222222"/>
                </a:solidFill>
                <a:latin typeface="DejaVu Serif"/>
                <a:ea typeface="DejaVu Serif"/>
                <a:cs typeface="DejaVu Serif"/>
              </a:rPr>
              <a:t>Deeper project support + commercial work: Riverbot Agentics.</a:t>
            </a:r>
          </a:p>
        </p:txBody>
      </p:sp>
      <p:sp>
        <p:nvSpPr>
          <p:cNvPr id="4" name="">
            <a:extLst xmlns:a="http://schemas.openxmlformats.org/drawingml/2006/main">
              <a:ext uri="{FF2B5EF4-FFF2-40B4-BE49-F238E27FC236}">
                <a16:creationId xmlns:a16="http://schemas.microsoft.com/office/drawing/2014/main" id="{846EE052-80D7-42AA-B385-06D852EC56D7}"/>
              </a:ext>
            </a:extLst>
          </p:cNvPr>
          <p:cNvSpPr>
            <a:spLocks xmlns:a="http://schemas.openxmlformats.org/drawingml/2006/main" noGrp="1"/>
          </p:cNvSpPr>
          <p:nvPr/>
        </p:nvSpPr>
        <p:spPr>
          <a:xfrm xmlns:a="http://schemas.openxmlformats.org/drawingml/2006/main">
            <a:off x="685800" y="588645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A0019"/>
                </a:solidFill>
                <a:latin typeface="DejaVu Sans"/>
                <a:ea typeface="DejaVu Sans"/>
                <a:cs typeface="DejaVu Sans"/>
              </a:defRPr>
            </a:pPr>
            <a:r>
              <a:rPr sz="1875" b="0">
                <a:solidFill>
                  <a:srgbClr val="7A0019"/>
                </a:solidFill>
                <a:latin typeface="DejaVu Sans"/>
                <a:ea typeface="DejaVu Sans"/>
                <a:cs typeface="DejaVu Sans"/>
              </a:rPr>
              <a:t>riverbotagentics@gmail.com</a:t>
            </a:r>
          </a:p>
        </p:txBody>
      </p:sp>
    </p:spTree>
    <p:extLst>
      <p:ext uri="{BB962C8B-B14F-4D97-AF65-F5344CB8AC3E}">
        <p14:creationId xmlns:p14="http://schemas.microsoft.com/office/powerpoint/2010/main" val="9636230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2026-09-22T20:36:39.0850000Z</dcterms:created>
  <dcterms:modified xsi:type="dcterms:W3CDTF">2026-09-22T20:36:39.0850000Z</dcterms:modified>
</coreProperties>
</file>